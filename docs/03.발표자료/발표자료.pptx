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70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1" r:id="rId15"/>
    <p:sldId id="275" r:id="rId16"/>
  </p:sldIdLst>
  <p:sldSz cx="18288000" cy="10287000"/>
  <p:notesSz cx="6858000" cy="9144000"/>
  <p:embeddedFontLst>
    <p:embeddedFont>
      <p:font typeface="Tlab 돋움 레귤러" panose="020B0600000101010101" charset="-127"/>
      <p:regular r:id="rId17"/>
    </p:embeddedFont>
    <p:embeddedFont>
      <p:font typeface="Tlab 돋움 레귤러 Bold" panose="020B0600000101010101" charset="-127"/>
      <p:regular r:id="rId18"/>
    </p:embeddedFont>
    <p:embeddedFont>
      <p:font typeface="Cabin" panose="020B0600000101010101" charset="0"/>
      <p:regular r:id="rId19"/>
    </p:embeddedFont>
    <p:embeddedFont>
      <p:font typeface="Cabin Bold" panose="020B0600000101010101" charset="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3" d="100"/>
          <a:sy n="53" d="100"/>
        </p:scale>
        <p:origin x="802" y="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shop.sandisk.com/products/ssd/internal-ssd/wd-blue-sn580-nvme-ssd?sku=WDS250G3B0E-00CHF0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usenix.org/conference/atc21/presentation/bjorling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upload.wikimedia.org/wikipedia/commons/5/5b/KeyValue.PNG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engineering.fb.com/2013/11/21/core-infra/under-the-hood-building-and-open-sourcing-rocksdb/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artem.krylysov.com/blog/2023/04/19/how-rocksdb-works/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artem.krylysov.com/blog/2023/04/19/how-rocksdb-works/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svg"/><Relationship Id="rId7" Type="http://schemas.openxmlformats.org/officeDocument/2006/relationships/image" Target="../media/image16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sv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20.png"/><Relationship Id="rId7" Type="http://schemas.openxmlformats.org/officeDocument/2006/relationships/image" Target="../media/image14.sv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svg"/><Relationship Id="rId4" Type="http://schemas.openxmlformats.org/officeDocument/2006/relationships/image" Target="../media/image11.png"/><Relationship Id="rId9" Type="http://schemas.openxmlformats.org/officeDocument/2006/relationships/image" Target="../media/image16.sv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D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349766" y="3643510"/>
            <a:ext cx="13672013" cy="1532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24"/>
              </a:lnSpc>
            </a:pPr>
            <a:r>
              <a:rPr lang="en-US" sz="5331" b="1" spc="-261">
                <a:solidFill>
                  <a:srgbClr val="4A60DD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ZNS SSD를 활용한 </a:t>
            </a:r>
          </a:p>
          <a:p>
            <a:pPr algn="ctr">
              <a:lnSpc>
                <a:spcPts val="6024"/>
              </a:lnSpc>
            </a:pPr>
            <a:r>
              <a:rPr lang="en-US" sz="5331" b="1" spc="-261">
                <a:solidFill>
                  <a:srgbClr val="4A60DD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키-밸류 스토어의 성능 개선 연구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250560" y="5840411"/>
            <a:ext cx="7870425" cy="563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57"/>
              </a:lnSpc>
            </a:pPr>
            <a:r>
              <a:rPr lang="en-US" sz="4257" spc="-93">
                <a:solidFill>
                  <a:srgbClr val="424242"/>
                </a:solidFill>
                <a:latin typeface="Cabin"/>
                <a:ea typeface="Cabin"/>
                <a:cs typeface="Cabin"/>
                <a:sym typeface="Cabin"/>
              </a:rPr>
              <a:t>numpy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858503" y="6915227"/>
            <a:ext cx="6654539" cy="26135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06"/>
              </a:lnSpc>
            </a:pPr>
            <a:r>
              <a:rPr lang="en-US" sz="3800" b="1" spc="91">
                <a:solidFill>
                  <a:srgbClr val="424242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202055524 김의현</a:t>
            </a:r>
          </a:p>
          <a:p>
            <a:pPr algn="ctr">
              <a:lnSpc>
                <a:spcPts val="5206"/>
              </a:lnSpc>
            </a:pPr>
            <a:r>
              <a:rPr lang="en-US" sz="3800" b="1" spc="91">
                <a:solidFill>
                  <a:srgbClr val="424242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202055532 나도윤</a:t>
            </a:r>
          </a:p>
          <a:p>
            <a:pPr algn="ctr">
              <a:lnSpc>
                <a:spcPts val="5206"/>
              </a:lnSpc>
            </a:pPr>
            <a:r>
              <a:rPr lang="en-US" sz="3800" b="1" spc="91">
                <a:solidFill>
                  <a:srgbClr val="424242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202055545 박정민</a:t>
            </a:r>
          </a:p>
          <a:p>
            <a:pPr algn="ctr">
              <a:lnSpc>
                <a:spcPts val="5206"/>
              </a:lnSpc>
            </a:pPr>
            <a:endParaRPr lang="en-US" sz="3800" b="1" spc="91">
              <a:solidFill>
                <a:srgbClr val="424242"/>
              </a:solidFill>
              <a:latin typeface="Tlab 돋움 레귤러 Bold"/>
              <a:ea typeface="Tlab 돋움 레귤러 Bold"/>
              <a:cs typeface="Tlab 돋움 레귤러 Bold"/>
              <a:sym typeface="Tlab 돋움 레귤러 Bold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4247350" y="1158004"/>
            <a:ext cx="9876845" cy="6418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06"/>
              </a:lnSpc>
            </a:pPr>
            <a:r>
              <a:rPr lang="en-US" sz="3800" b="1" spc="91">
                <a:solidFill>
                  <a:srgbClr val="424242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정보컴퓨터공학부 2025 전기 졸업 과제</a:t>
            </a:r>
          </a:p>
        </p:txBody>
      </p:sp>
      <p:grpSp>
        <p:nvGrpSpPr>
          <p:cNvPr id="6" name="Group 2">
            <a:extLst>
              <a:ext uri="{FF2B5EF4-FFF2-40B4-BE49-F238E27FC236}">
                <a16:creationId xmlns:a16="http://schemas.microsoft.com/office/drawing/2014/main" id="{52ACA9E4-7CEF-DBDA-9F48-9D269EBAA94F}"/>
              </a:ext>
            </a:extLst>
          </p:cNvPr>
          <p:cNvGrpSpPr/>
          <p:nvPr/>
        </p:nvGrpSpPr>
        <p:grpSpPr>
          <a:xfrm>
            <a:off x="8849272" y="2572140"/>
            <a:ext cx="673000" cy="673000"/>
            <a:chOff x="0" y="0"/>
            <a:chExt cx="897333" cy="897333"/>
          </a:xfrm>
        </p:grpSpPr>
        <p:sp>
          <p:nvSpPr>
            <p:cNvPr id="7" name="AutoShape 3">
              <a:extLst>
                <a:ext uri="{FF2B5EF4-FFF2-40B4-BE49-F238E27FC236}">
                  <a16:creationId xmlns:a16="http://schemas.microsoft.com/office/drawing/2014/main" id="{78CC5B4F-CEB8-9D16-4965-4C1E8892FCE0}"/>
                </a:ext>
              </a:extLst>
            </p:cNvPr>
            <p:cNvSpPr/>
            <p:nvPr/>
          </p:nvSpPr>
          <p:spPr>
            <a:xfrm>
              <a:off x="0" y="448667"/>
              <a:ext cx="897333" cy="0"/>
            </a:xfrm>
            <a:prstGeom prst="line">
              <a:avLst/>
            </a:prstGeom>
            <a:ln w="139700" cap="flat">
              <a:solidFill>
                <a:srgbClr val="4A60DD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" name="AutoShape 4">
              <a:extLst>
                <a:ext uri="{FF2B5EF4-FFF2-40B4-BE49-F238E27FC236}">
                  <a16:creationId xmlns:a16="http://schemas.microsoft.com/office/drawing/2014/main" id="{77FF3FF2-6752-C16B-6566-2FB121CFF3B7}"/>
                </a:ext>
              </a:extLst>
            </p:cNvPr>
            <p:cNvSpPr/>
            <p:nvPr/>
          </p:nvSpPr>
          <p:spPr>
            <a:xfrm flipV="1">
              <a:off x="448667" y="0"/>
              <a:ext cx="0" cy="897333"/>
            </a:xfrm>
            <a:prstGeom prst="line">
              <a:avLst/>
            </a:prstGeom>
            <a:ln w="139700" cap="flat">
              <a:solidFill>
                <a:srgbClr val="4A60DD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" name="AutoShape 5">
              <a:extLst>
                <a:ext uri="{FF2B5EF4-FFF2-40B4-BE49-F238E27FC236}">
                  <a16:creationId xmlns:a16="http://schemas.microsoft.com/office/drawing/2014/main" id="{85DFC7AF-F0CD-E83C-64D3-2FFA7CB47DF2}"/>
                </a:ext>
              </a:extLst>
            </p:cNvPr>
            <p:cNvSpPr/>
            <p:nvPr/>
          </p:nvSpPr>
          <p:spPr>
            <a:xfrm flipV="1">
              <a:off x="131411" y="131411"/>
              <a:ext cx="634511" cy="634511"/>
            </a:xfrm>
            <a:prstGeom prst="line">
              <a:avLst/>
            </a:prstGeom>
            <a:ln w="139700" cap="flat">
              <a:solidFill>
                <a:srgbClr val="4A60DD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" name="AutoShape 6">
              <a:extLst>
                <a:ext uri="{FF2B5EF4-FFF2-40B4-BE49-F238E27FC236}">
                  <a16:creationId xmlns:a16="http://schemas.microsoft.com/office/drawing/2014/main" id="{782A04B4-DD7D-EE57-FE32-8CC05630057E}"/>
                </a:ext>
              </a:extLst>
            </p:cNvPr>
            <p:cNvSpPr/>
            <p:nvPr/>
          </p:nvSpPr>
          <p:spPr>
            <a:xfrm flipH="1" flipV="1">
              <a:off x="131411" y="131411"/>
              <a:ext cx="634511" cy="634511"/>
            </a:xfrm>
            <a:prstGeom prst="line">
              <a:avLst/>
            </a:prstGeom>
            <a:ln w="139700" cap="flat">
              <a:solidFill>
                <a:srgbClr val="4A60DD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ko-KR" altLang="en-US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D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319065"/>
            <a:ext cx="673000" cy="673000"/>
            <a:chOff x="0" y="0"/>
            <a:chExt cx="897333" cy="897333"/>
          </a:xfrm>
        </p:grpSpPr>
        <p:sp>
          <p:nvSpPr>
            <p:cNvPr id="3" name="AutoShape 3"/>
            <p:cNvSpPr/>
            <p:nvPr/>
          </p:nvSpPr>
          <p:spPr>
            <a:xfrm>
              <a:off x="0" y="448667"/>
              <a:ext cx="897333" cy="0"/>
            </a:xfrm>
            <a:prstGeom prst="line">
              <a:avLst/>
            </a:prstGeom>
            <a:ln w="139700" cap="flat">
              <a:solidFill>
                <a:srgbClr val="4A60DD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AutoShape 4"/>
            <p:cNvSpPr/>
            <p:nvPr/>
          </p:nvSpPr>
          <p:spPr>
            <a:xfrm flipV="1">
              <a:off x="448667" y="0"/>
              <a:ext cx="0" cy="897333"/>
            </a:xfrm>
            <a:prstGeom prst="line">
              <a:avLst/>
            </a:prstGeom>
            <a:ln w="139700" cap="flat">
              <a:solidFill>
                <a:srgbClr val="4A60DD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" name="AutoShape 5"/>
            <p:cNvSpPr/>
            <p:nvPr/>
          </p:nvSpPr>
          <p:spPr>
            <a:xfrm flipV="1">
              <a:off x="131411" y="131411"/>
              <a:ext cx="634511" cy="634511"/>
            </a:xfrm>
            <a:prstGeom prst="line">
              <a:avLst/>
            </a:prstGeom>
            <a:ln w="139700" cap="flat">
              <a:solidFill>
                <a:srgbClr val="4A60DD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" name="AutoShape 6"/>
            <p:cNvSpPr/>
            <p:nvPr/>
          </p:nvSpPr>
          <p:spPr>
            <a:xfrm flipH="1" flipV="1">
              <a:off x="131411" y="131411"/>
              <a:ext cx="634511" cy="634511"/>
            </a:xfrm>
            <a:prstGeom prst="line">
              <a:avLst/>
            </a:prstGeom>
            <a:ln w="139700" cap="flat">
              <a:solidFill>
                <a:srgbClr val="4A60DD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970583" y="1180906"/>
            <a:ext cx="4219724" cy="10391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499"/>
              </a:lnSpc>
            </a:pPr>
            <a:r>
              <a:rPr lang="en-US" sz="7000" b="1" spc="-254" dirty="0">
                <a:solidFill>
                  <a:srgbClr val="4A60DD"/>
                </a:solidFill>
                <a:latin typeface="Cabin Bold"/>
                <a:ea typeface="Cabin Bold"/>
                <a:cs typeface="Cabin Bold"/>
                <a:sym typeface="Cabin Bold"/>
              </a:rPr>
              <a:t>Contents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303971" y="3193450"/>
            <a:ext cx="552818" cy="9890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8891"/>
              </a:lnSpc>
            </a:pPr>
            <a:r>
              <a:rPr lang="en-US" sz="3900" b="1" spc="117">
                <a:solidFill>
                  <a:srgbClr val="4A60DD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1.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545633" y="3193450"/>
            <a:ext cx="552818" cy="9890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8891"/>
              </a:lnSpc>
            </a:pPr>
            <a:r>
              <a:rPr lang="en-US" sz="3900" b="1" spc="117" dirty="0">
                <a:solidFill>
                  <a:srgbClr val="4A60DD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5.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303971" y="4376089"/>
            <a:ext cx="552818" cy="9890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8891"/>
              </a:lnSpc>
            </a:pPr>
            <a:r>
              <a:rPr lang="en-US" sz="3900" b="1" spc="117">
                <a:solidFill>
                  <a:srgbClr val="4A60DD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2.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545633" y="4376089"/>
            <a:ext cx="552818" cy="9890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8891"/>
              </a:lnSpc>
            </a:pPr>
            <a:r>
              <a:rPr lang="en-US" sz="3900" b="1" spc="117" dirty="0">
                <a:solidFill>
                  <a:srgbClr val="4A60DD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6.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303971" y="5601962"/>
            <a:ext cx="552818" cy="9890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8891"/>
              </a:lnSpc>
            </a:pPr>
            <a:r>
              <a:rPr lang="en-US" sz="3900" b="1" spc="117">
                <a:solidFill>
                  <a:srgbClr val="4A60DD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3.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545633" y="5613959"/>
            <a:ext cx="552818" cy="9890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8891"/>
              </a:lnSpc>
            </a:pPr>
            <a:r>
              <a:rPr lang="en-US" sz="3900" b="1" spc="117" dirty="0">
                <a:solidFill>
                  <a:srgbClr val="4A60DD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7.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303971" y="6823253"/>
            <a:ext cx="552818" cy="9890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8891"/>
              </a:lnSpc>
            </a:pPr>
            <a:r>
              <a:rPr lang="en-US" sz="3900" b="1" spc="117">
                <a:solidFill>
                  <a:srgbClr val="4A60DD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4.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545633" y="6823253"/>
            <a:ext cx="552818" cy="9890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8891"/>
              </a:lnSpc>
            </a:pPr>
            <a:r>
              <a:rPr lang="en-US" sz="3900" b="1" spc="117" dirty="0">
                <a:solidFill>
                  <a:srgbClr val="4A60DD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8.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325574" y="3170096"/>
            <a:ext cx="5403203" cy="9890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891"/>
              </a:lnSpc>
            </a:pPr>
            <a:r>
              <a:rPr lang="en-US" sz="3900" b="1" dirty="0" err="1">
                <a:solidFill>
                  <a:srgbClr val="424242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연구</a:t>
            </a:r>
            <a:r>
              <a:rPr lang="en-US" sz="3900" b="1" dirty="0">
                <a:solidFill>
                  <a:srgbClr val="424242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 </a:t>
            </a:r>
            <a:r>
              <a:rPr lang="ko-KR" altLang="en-US" sz="3900" b="1" dirty="0">
                <a:solidFill>
                  <a:srgbClr val="424242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동기</a:t>
            </a:r>
            <a:endParaRPr lang="en-US" sz="3900" b="1" dirty="0">
              <a:solidFill>
                <a:srgbClr val="424242"/>
              </a:solidFill>
              <a:latin typeface="Tlab 돋움 레귤러 Bold"/>
              <a:ea typeface="Tlab 돋움 레귤러 Bold"/>
              <a:cs typeface="Tlab 돋움 레귤러 Bold"/>
              <a:sym typeface="Tlab 돋움 레귤러 Bold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10325574" y="4355895"/>
            <a:ext cx="3009426" cy="21355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891"/>
              </a:lnSpc>
            </a:pPr>
            <a:r>
              <a:rPr lang="en-US" sz="3900" b="1" dirty="0">
                <a:solidFill>
                  <a:srgbClr val="424242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SIA</a:t>
            </a:r>
          </a:p>
          <a:p>
            <a:pPr algn="l">
              <a:lnSpc>
                <a:spcPts val="8891"/>
              </a:lnSpc>
            </a:pPr>
            <a:endParaRPr lang="en-US" sz="3900" b="1" dirty="0">
              <a:solidFill>
                <a:srgbClr val="424242"/>
              </a:solidFill>
              <a:latin typeface="Tlab 돋움 레귤러 Bold"/>
              <a:ea typeface="Tlab 돋움 레귤러 Bold"/>
              <a:cs typeface="Tlab 돋움 레귤러 Bold"/>
              <a:sym typeface="Tlab 돋움 레귤러 Bold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10325574" y="5584240"/>
            <a:ext cx="6933726" cy="9890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891"/>
              </a:lnSpc>
            </a:pPr>
            <a:r>
              <a:rPr lang="en-US" sz="3900" b="1" dirty="0">
                <a:solidFill>
                  <a:srgbClr val="424242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SLSIA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0325574" y="6803060"/>
            <a:ext cx="5403203" cy="9890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891"/>
              </a:lnSpc>
            </a:pPr>
            <a:r>
              <a:rPr lang="ko-KR" altLang="en-US" sz="3900" b="1" dirty="0">
                <a:solidFill>
                  <a:srgbClr val="424242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연구 결과</a:t>
            </a:r>
            <a:endParaRPr lang="en-US" sz="3900" b="1" dirty="0">
              <a:solidFill>
                <a:srgbClr val="424242"/>
              </a:solidFill>
              <a:latin typeface="Tlab 돋움 레귤러 Bold"/>
              <a:ea typeface="Tlab 돋움 레귤러 Bold"/>
              <a:cs typeface="Tlab 돋움 레귤러 Bold"/>
              <a:sym typeface="Tlab 돋움 레귤러 Bold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2085389" y="3170096"/>
            <a:ext cx="5403203" cy="9890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891"/>
              </a:lnSpc>
            </a:pPr>
            <a:r>
              <a:rPr lang="en-US" sz="3900" b="1" dirty="0">
                <a:solidFill>
                  <a:srgbClr val="424242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SSD, ZNS SSD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2085389" y="4376089"/>
            <a:ext cx="5403203" cy="9890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891"/>
              </a:lnSpc>
            </a:pPr>
            <a:r>
              <a:rPr lang="ko-KR" altLang="en-US" sz="3900" b="1" dirty="0">
                <a:solidFill>
                  <a:srgbClr val="424242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키</a:t>
            </a:r>
            <a:r>
              <a:rPr lang="en-US" altLang="ko-KR" sz="3900" b="1" dirty="0">
                <a:solidFill>
                  <a:srgbClr val="424242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-</a:t>
            </a:r>
            <a:r>
              <a:rPr lang="ko-KR" altLang="en-US" sz="3900" b="1" dirty="0" err="1">
                <a:solidFill>
                  <a:srgbClr val="424242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밸류</a:t>
            </a:r>
            <a:r>
              <a:rPr lang="ko-KR" altLang="en-US" sz="3900" b="1" dirty="0">
                <a:solidFill>
                  <a:srgbClr val="424242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 스토어</a:t>
            </a:r>
            <a:endParaRPr lang="en-US" sz="3900" b="1" dirty="0">
              <a:solidFill>
                <a:srgbClr val="424242"/>
              </a:solidFill>
              <a:latin typeface="Tlab 돋움 레귤러 Bold"/>
              <a:ea typeface="Tlab 돋움 레귤러 Bold"/>
              <a:cs typeface="Tlab 돋움 레귤러 Bold"/>
              <a:sym typeface="Tlab 돋움 레귤러 Bold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2085389" y="5613959"/>
            <a:ext cx="5403203" cy="9890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891"/>
              </a:lnSpc>
            </a:pPr>
            <a:r>
              <a:rPr lang="en-US" sz="3900" b="1" dirty="0" err="1">
                <a:solidFill>
                  <a:srgbClr val="424242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RocksDB</a:t>
            </a:r>
            <a:endParaRPr lang="en-US" sz="3900" b="1" dirty="0">
              <a:solidFill>
                <a:srgbClr val="424242"/>
              </a:solidFill>
              <a:latin typeface="Tlab 돋움 레귤러 Bold"/>
              <a:ea typeface="Tlab 돋움 레귤러 Bold"/>
              <a:cs typeface="Tlab 돋움 레귤러 Bold"/>
              <a:sym typeface="Tlab 돋움 레귤러 Bold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2085389" y="6823253"/>
            <a:ext cx="5403203" cy="9890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891"/>
              </a:lnSpc>
            </a:pPr>
            <a:r>
              <a:rPr lang="en-US" sz="3900" b="1" dirty="0">
                <a:solidFill>
                  <a:srgbClr val="424242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ZENFS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D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330298"/>
            <a:ext cx="650534" cy="650534"/>
            <a:chOff x="0" y="0"/>
            <a:chExt cx="867378" cy="867378"/>
          </a:xfrm>
        </p:grpSpPr>
        <p:sp>
          <p:nvSpPr>
            <p:cNvPr id="3" name="AutoShape 3"/>
            <p:cNvSpPr/>
            <p:nvPr/>
          </p:nvSpPr>
          <p:spPr>
            <a:xfrm>
              <a:off x="0" y="433689"/>
              <a:ext cx="867378" cy="0"/>
            </a:xfrm>
            <a:prstGeom prst="line">
              <a:avLst/>
            </a:prstGeom>
            <a:ln w="139700" cap="flat">
              <a:solidFill>
                <a:srgbClr val="4A60DD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AutoShape 4"/>
            <p:cNvSpPr/>
            <p:nvPr/>
          </p:nvSpPr>
          <p:spPr>
            <a:xfrm flipV="1">
              <a:off x="433689" y="0"/>
              <a:ext cx="0" cy="867378"/>
            </a:xfrm>
            <a:prstGeom prst="line">
              <a:avLst/>
            </a:prstGeom>
            <a:ln w="139700" cap="flat">
              <a:solidFill>
                <a:srgbClr val="4A60DD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" name="AutoShape 5"/>
            <p:cNvSpPr/>
            <p:nvPr/>
          </p:nvSpPr>
          <p:spPr>
            <a:xfrm flipV="1">
              <a:off x="127025" y="127025"/>
              <a:ext cx="613329" cy="613329"/>
            </a:xfrm>
            <a:prstGeom prst="line">
              <a:avLst/>
            </a:prstGeom>
            <a:ln w="139700" cap="flat">
              <a:solidFill>
                <a:srgbClr val="4A60DD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" name="AutoShape 6"/>
            <p:cNvSpPr/>
            <p:nvPr/>
          </p:nvSpPr>
          <p:spPr>
            <a:xfrm flipH="1" flipV="1">
              <a:off x="127025" y="127025"/>
              <a:ext cx="613329" cy="613329"/>
            </a:xfrm>
            <a:prstGeom prst="line">
              <a:avLst/>
            </a:prstGeom>
            <a:ln w="139700" cap="flat">
              <a:solidFill>
                <a:srgbClr val="4A60DD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925061" y="1076128"/>
            <a:ext cx="15334239" cy="1108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819"/>
              </a:lnSpc>
            </a:pPr>
            <a:r>
              <a:rPr lang="en-US" sz="6999" b="1" spc="-209" dirty="0">
                <a:solidFill>
                  <a:srgbClr val="4A60DD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SSD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38663" y="2798071"/>
            <a:ext cx="5727062" cy="4191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lang="en-US" sz="2600" b="1" spc="-26" dirty="0">
                <a:solidFill>
                  <a:srgbClr val="4A60DD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SSD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23801" y="4591050"/>
            <a:ext cx="5727062" cy="4191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lang="ko-KR" altLang="en-US" sz="2600" b="1" spc="-26" dirty="0">
                <a:solidFill>
                  <a:srgbClr val="4A60DD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역사</a:t>
            </a:r>
            <a:endParaRPr lang="en-US" sz="2600" b="1" spc="-26" dirty="0">
              <a:solidFill>
                <a:srgbClr val="4A60DD"/>
              </a:solidFill>
              <a:latin typeface="Tlab 돋움 레귤러 Bold"/>
              <a:ea typeface="Tlab 돋움 레귤러 Bold"/>
              <a:cs typeface="Tlab 돋움 레귤러 Bold"/>
              <a:sym typeface="Tlab 돋움 레귤러 Bold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138315" y="6799818"/>
            <a:ext cx="5727062" cy="4191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lang="ko-KR" altLang="en-US" sz="2600" b="1" spc="-26" dirty="0">
                <a:solidFill>
                  <a:srgbClr val="4A60DD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특징</a:t>
            </a:r>
            <a:endParaRPr lang="en-US" sz="2600" b="1" spc="-26" dirty="0">
              <a:solidFill>
                <a:srgbClr val="4A60DD"/>
              </a:solidFill>
              <a:latin typeface="Tlab 돋움 레귤러 Bold"/>
              <a:ea typeface="Tlab 돋움 레귤러 Bold"/>
              <a:cs typeface="Tlab 돋움 레귤러 Bold"/>
              <a:sym typeface="Tlab 돋움 레귤러 Bold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039586" y="3350108"/>
            <a:ext cx="11767907" cy="8800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8" lvl="1" indent="-269874">
              <a:lnSpc>
                <a:spcPts val="3499"/>
              </a:lnSpc>
              <a:buFont typeface="Arial"/>
              <a:buChar char="•"/>
            </a:pPr>
            <a:r>
              <a:rPr lang="en-US" altLang="ko-KR" sz="2500" dirty="0">
                <a:latin typeface="Tlab 돋움 레귤러" panose="020B0600000101010101" charset="-127"/>
                <a:ea typeface="Tlab 돋움 레귤러" panose="020B0600000101010101" charset="-127"/>
              </a:rPr>
              <a:t>SSD</a:t>
            </a:r>
            <a:r>
              <a:rPr lang="ko-KR" altLang="en-US" sz="2500" dirty="0">
                <a:latin typeface="Tlab 돋움 레귤러" panose="020B0600000101010101" charset="-127"/>
                <a:ea typeface="Tlab 돋움 레귤러" panose="020B0600000101010101" charset="-127"/>
              </a:rPr>
              <a:t>는 </a:t>
            </a:r>
            <a:r>
              <a:rPr lang="en-US" altLang="ko-KR" sz="2500" b="1" dirty="0">
                <a:latin typeface="Tlab 돋움 레귤러" panose="020B0600000101010101" charset="-127"/>
                <a:ea typeface="Tlab 돋움 레귤러" panose="020B0600000101010101" charset="-127"/>
              </a:rPr>
              <a:t>Solid State Drive</a:t>
            </a:r>
            <a:r>
              <a:rPr lang="ko-KR" altLang="en-US" sz="2500" dirty="0">
                <a:latin typeface="Tlab 돋움 레귤러" panose="020B0600000101010101" charset="-127"/>
                <a:ea typeface="Tlab 돋움 레귤러" panose="020B0600000101010101" charset="-127"/>
              </a:rPr>
              <a:t>의 약자로</a:t>
            </a:r>
            <a:r>
              <a:rPr lang="en-US" altLang="ko-KR" sz="2500" dirty="0">
                <a:latin typeface="Tlab 돋움 레귤러" panose="020B0600000101010101" charset="-127"/>
                <a:ea typeface="Tlab 돋움 레귤러" panose="020B0600000101010101" charset="-127"/>
              </a:rPr>
              <a:t>, </a:t>
            </a:r>
            <a:r>
              <a:rPr lang="ko-KR" altLang="en-US" sz="2500" dirty="0">
                <a:latin typeface="Tlab 돋움 레귤러" panose="020B0600000101010101" charset="-127"/>
                <a:ea typeface="Tlab 돋움 레귤러" panose="020B0600000101010101" charset="-127"/>
              </a:rPr>
              <a:t>데이터를 저장하는 장치</a:t>
            </a:r>
            <a:endParaRPr lang="en-US" altLang="ko-KR" sz="2500" dirty="0">
              <a:latin typeface="Tlab 돋움 레귤러" panose="020B0600000101010101" charset="-127"/>
              <a:ea typeface="Tlab 돋움 레귤러" panose="020B0600000101010101" charset="-127"/>
            </a:endParaRPr>
          </a:p>
          <a:p>
            <a:pPr marL="539748" lvl="1" indent="-269874">
              <a:lnSpc>
                <a:spcPts val="3499"/>
              </a:lnSpc>
              <a:buFont typeface="Arial"/>
              <a:buChar char="•"/>
            </a:pPr>
            <a:r>
              <a:rPr lang="ko-KR" altLang="en-US" sz="2500" dirty="0">
                <a:latin typeface="Tlab 돋움 레귤러" panose="020B0600000101010101" charset="-127"/>
                <a:ea typeface="Tlab 돋움 레귤러" panose="020B0600000101010101" charset="-127"/>
              </a:rPr>
              <a:t>하드디스크</a:t>
            </a:r>
            <a:r>
              <a:rPr lang="en-US" altLang="ko-KR" sz="2500" dirty="0">
                <a:latin typeface="Tlab 돋움 레귤러" panose="020B0600000101010101" charset="-127"/>
                <a:ea typeface="Tlab 돋움 레귤러" panose="020B0600000101010101" charset="-127"/>
              </a:rPr>
              <a:t>(HDD)</a:t>
            </a:r>
            <a:r>
              <a:rPr lang="ko-KR" altLang="en-US" sz="2500" dirty="0">
                <a:latin typeface="Tlab 돋움 레귤러" panose="020B0600000101010101" charset="-127"/>
                <a:ea typeface="Tlab 돋움 레귤러" panose="020B0600000101010101" charset="-127"/>
              </a:rPr>
              <a:t>와 같은 역할을 하지만</a:t>
            </a:r>
            <a:r>
              <a:rPr lang="en-US" altLang="ko-KR" sz="2500" dirty="0">
                <a:latin typeface="Tlab 돋움 레귤러" panose="020B0600000101010101" charset="-127"/>
                <a:ea typeface="Tlab 돋움 레귤러" panose="020B0600000101010101" charset="-127"/>
              </a:rPr>
              <a:t>, </a:t>
            </a:r>
            <a:r>
              <a:rPr lang="ko-KR" altLang="en-US" sz="2500" dirty="0">
                <a:latin typeface="Tlab 돋움 레귤러" panose="020B0600000101010101" charset="-127"/>
                <a:ea typeface="Tlab 돋움 레귤러" panose="020B0600000101010101" charset="-127"/>
              </a:rPr>
              <a:t>방식이 달라서 훨씬 빠르고 소음이 적음</a:t>
            </a:r>
            <a:endParaRPr lang="en-US" sz="2500" dirty="0">
              <a:solidFill>
                <a:srgbClr val="424242"/>
              </a:solidFill>
              <a:latin typeface="Tlab 돋움 레귤러" panose="020B0600000101010101" charset="-127"/>
              <a:ea typeface="Tlab 돋움 레귤러" panose="020B0600000101010101" charset="-127"/>
              <a:cs typeface="Tlab 돋움 레귤러"/>
              <a:sym typeface="Tlab 돋움 레귤러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123969" y="5143500"/>
            <a:ext cx="11767907" cy="13228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8" lvl="1" indent="-269874" algn="l">
              <a:lnSpc>
                <a:spcPts val="3499"/>
              </a:lnSpc>
              <a:buFont typeface="Arial"/>
              <a:buChar char="•"/>
            </a:pPr>
            <a:r>
              <a:rPr lang="en-US" sz="2499" dirty="0">
                <a:solidFill>
                  <a:srgbClr val="424242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1984</a:t>
            </a:r>
            <a:r>
              <a:rPr lang="ko-KR" altLang="en-US" sz="2499" dirty="0">
                <a:solidFill>
                  <a:srgbClr val="424242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년</a:t>
            </a:r>
            <a:r>
              <a:rPr lang="en-US" altLang="ko-KR" sz="2499" dirty="0">
                <a:solidFill>
                  <a:srgbClr val="424242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, </a:t>
            </a:r>
            <a:r>
              <a:rPr lang="ko-KR" altLang="en-US" sz="2499" dirty="0">
                <a:solidFill>
                  <a:srgbClr val="424242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일본 도시바에서 최초로 </a:t>
            </a:r>
            <a:r>
              <a:rPr lang="en-US" altLang="ko-KR" sz="2499" dirty="0">
                <a:solidFill>
                  <a:srgbClr val="424242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SSD </a:t>
            </a:r>
            <a:r>
              <a:rPr lang="ko-KR" altLang="en-US" sz="2499" dirty="0">
                <a:solidFill>
                  <a:srgbClr val="424242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개념을 가진 플래시메모리 저장장치 개발</a:t>
            </a:r>
            <a:endParaRPr lang="en-US" sz="2499" dirty="0">
              <a:solidFill>
                <a:srgbClr val="424242"/>
              </a:solidFill>
              <a:latin typeface="Tlab 돋움 레귤러"/>
              <a:ea typeface="Tlab 돋움 레귤러"/>
              <a:cs typeface="Tlab 돋움 레귤러"/>
              <a:sym typeface="Tlab 돋움 레귤러"/>
            </a:endParaRPr>
          </a:p>
          <a:p>
            <a:pPr marL="539748" lvl="1" indent="-269874" algn="l">
              <a:lnSpc>
                <a:spcPts val="3499"/>
              </a:lnSpc>
              <a:buFont typeface="Arial"/>
              <a:buChar char="•"/>
            </a:pPr>
            <a:r>
              <a:rPr lang="en-US" altLang="ko-KR" sz="2499" dirty="0">
                <a:solidFill>
                  <a:srgbClr val="424242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2000</a:t>
            </a:r>
            <a:r>
              <a:rPr lang="ko-KR" altLang="en-US" sz="2499" dirty="0">
                <a:solidFill>
                  <a:srgbClr val="424242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년대 중반부터는 가격이 점점 내려가고 성능이 좋아지면서</a:t>
            </a:r>
            <a:r>
              <a:rPr lang="en-US" altLang="ko-KR" sz="2499" dirty="0">
                <a:solidFill>
                  <a:srgbClr val="424242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, </a:t>
            </a:r>
            <a:r>
              <a:rPr lang="ko-KR" altLang="en-US" sz="2499" dirty="0">
                <a:solidFill>
                  <a:srgbClr val="424242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일반 컴퓨터와 노트북에서도 널리 사용되기 시작함</a:t>
            </a:r>
            <a:endParaRPr lang="en-US" sz="2499" dirty="0">
              <a:solidFill>
                <a:srgbClr val="424242"/>
              </a:solidFill>
              <a:latin typeface="Tlab 돋움 레귤러"/>
              <a:ea typeface="Tlab 돋움 레귤러"/>
              <a:cs typeface="Tlab 돋움 레귤러"/>
              <a:sym typeface="Tlab 돋움 레귤러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123801" y="7354797"/>
            <a:ext cx="11767907" cy="13228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8" lvl="1" indent="-269874" algn="l">
              <a:lnSpc>
                <a:spcPts val="3499"/>
              </a:lnSpc>
              <a:buFont typeface="Arial"/>
              <a:buChar char="•"/>
            </a:pPr>
            <a:r>
              <a:rPr lang="en-US" altLang="ko-KR" sz="2499" dirty="0">
                <a:solidFill>
                  <a:srgbClr val="424242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DD</a:t>
            </a:r>
            <a:r>
              <a:rPr lang="ko-KR" altLang="en-US" sz="2499" dirty="0">
                <a:solidFill>
                  <a:srgbClr val="424242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는 원판</a:t>
            </a:r>
            <a:r>
              <a:rPr lang="en-US" altLang="ko-KR" sz="2499" dirty="0">
                <a:solidFill>
                  <a:srgbClr val="424242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(</a:t>
            </a:r>
            <a:r>
              <a:rPr lang="ko-KR" altLang="en-US" sz="2499" dirty="0">
                <a:solidFill>
                  <a:srgbClr val="424242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디스크</a:t>
            </a:r>
            <a:r>
              <a:rPr lang="en-US" altLang="ko-KR" sz="2499" dirty="0">
                <a:solidFill>
                  <a:srgbClr val="424242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)</a:t>
            </a:r>
            <a:r>
              <a:rPr lang="ko-KR" altLang="en-US" sz="2499" dirty="0">
                <a:solidFill>
                  <a:srgbClr val="424242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을 돌려서 데이터를 읽는 반면</a:t>
            </a:r>
            <a:r>
              <a:rPr lang="en-US" altLang="ko-KR" sz="2499" dirty="0">
                <a:solidFill>
                  <a:srgbClr val="424242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, SSD</a:t>
            </a:r>
            <a:r>
              <a:rPr lang="ko-KR" altLang="en-US" sz="2499" dirty="0">
                <a:solidFill>
                  <a:srgbClr val="424242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는 반도체 메모리</a:t>
            </a:r>
            <a:r>
              <a:rPr lang="en-US" altLang="ko-KR" sz="2499" dirty="0">
                <a:solidFill>
                  <a:srgbClr val="424242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(</a:t>
            </a:r>
            <a:r>
              <a:rPr lang="ko-KR" altLang="en-US" sz="2499" dirty="0">
                <a:solidFill>
                  <a:srgbClr val="424242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플래시</a:t>
            </a:r>
            <a:r>
              <a:rPr lang="en-US" altLang="ko-KR" sz="2499" dirty="0">
                <a:solidFill>
                  <a:srgbClr val="424242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)</a:t>
            </a:r>
            <a:r>
              <a:rPr lang="ko-KR" altLang="en-US" sz="2499" dirty="0">
                <a:solidFill>
                  <a:srgbClr val="424242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를 사용해 움직이는 부품이 없음</a:t>
            </a:r>
            <a:endParaRPr lang="en-US" altLang="ko-KR" sz="2499" dirty="0">
              <a:solidFill>
                <a:srgbClr val="424242"/>
              </a:solidFill>
              <a:latin typeface="Tlab 돋움 레귤러"/>
              <a:ea typeface="Tlab 돋움 레귤러"/>
              <a:cs typeface="Tlab 돋움 레귤러"/>
              <a:sym typeface="Tlab 돋움 레귤러"/>
            </a:endParaRPr>
          </a:p>
          <a:p>
            <a:pPr marL="539748" lvl="1" indent="-269874" algn="l">
              <a:lnSpc>
                <a:spcPts val="3499"/>
              </a:lnSpc>
              <a:buFont typeface="Arial"/>
              <a:buChar char="•"/>
            </a:pPr>
            <a:r>
              <a:rPr lang="ko-KR" altLang="en-US" sz="2499" dirty="0">
                <a:solidFill>
                  <a:srgbClr val="424242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속도가 훨씬 빠르고</a:t>
            </a:r>
            <a:r>
              <a:rPr lang="en-US" altLang="ko-KR" sz="2499" dirty="0">
                <a:solidFill>
                  <a:srgbClr val="424242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, </a:t>
            </a:r>
            <a:r>
              <a:rPr lang="ko-KR" altLang="en-US" sz="2499" dirty="0">
                <a:solidFill>
                  <a:srgbClr val="424242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소음이 없고</a:t>
            </a:r>
            <a:r>
              <a:rPr lang="en-US" altLang="ko-KR" sz="2499" dirty="0">
                <a:solidFill>
                  <a:srgbClr val="424242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, </a:t>
            </a:r>
            <a:r>
              <a:rPr lang="ko-KR" altLang="en-US" sz="2499" dirty="0">
                <a:solidFill>
                  <a:srgbClr val="424242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충격에도 강하다는 장점이 있음</a:t>
            </a:r>
            <a:endParaRPr lang="en-US" sz="2499" dirty="0">
              <a:solidFill>
                <a:srgbClr val="424242"/>
              </a:solidFill>
              <a:latin typeface="Tlab 돋움 레귤러"/>
              <a:ea typeface="Tlab 돋움 레귤러"/>
              <a:cs typeface="Tlab 돋움 레귤러"/>
              <a:sym typeface="Tlab 돋움 레귤러"/>
            </a:endParaRPr>
          </a:p>
        </p:txBody>
      </p:sp>
      <p:pic>
        <p:nvPicPr>
          <p:cNvPr id="18" name="object 6">
            <a:extLst>
              <a:ext uri="{FF2B5EF4-FFF2-40B4-BE49-F238E27FC236}">
                <a16:creationId xmlns:a16="http://schemas.microsoft.com/office/drawing/2014/main" id="{9027FF27-090A-79F4-4BBD-FF11A50665E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573000" y="3326260"/>
            <a:ext cx="5410200" cy="48881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A3F6FB45-6B20-4D71-8D3D-955414CE1BA7}"/>
              </a:ext>
            </a:extLst>
          </p:cNvPr>
          <p:cNvSpPr txBox="1"/>
          <p:nvPr/>
        </p:nvSpPr>
        <p:spPr>
          <a:xfrm>
            <a:off x="13280200" y="9791700"/>
            <a:ext cx="49932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dirty="0">
                <a:latin typeface="+mj-lt"/>
              </a:rPr>
              <a:t>이미지 출처</a:t>
            </a:r>
            <a:r>
              <a:rPr lang="en-US" altLang="ko-KR" spc="-10" dirty="0">
                <a:latin typeface="+mj-lt"/>
                <a:cs typeface="Arial MT"/>
                <a:hlinkClick r:id="rId3"/>
              </a:rPr>
              <a:t> </a:t>
            </a:r>
            <a:r>
              <a:rPr lang="en-US" altLang="ko-KR" spc="-10" dirty="0" err="1">
                <a:latin typeface="+mj-lt"/>
                <a:cs typeface="Arial MT"/>
                <a:hlinkClick r:id="rId3"/>
              </a:rPr>
              <a:t>sandisk</a:t>
            </a:r>
            <a:endParaRPr lang="ko-KR" altLang="en-US" dirty="0">
              <a:latin typeface="+mj-l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D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330298"/>
            <a:ext cx="650534" cy="650534"/>
            <a:chOff x="0" y="0"/>
            <a:chExt cx="867378" cy="867378"/>
          </a:xfrm>
        </p:grpSpPr>
        <p:sp>
          <p:nvSpPr>
            <p:cNvPr id="3" name="AutoShape 3"/>
            <p:cNvSpPr/>
            <p:nvPr/>
          </p:nvSpPr>
          <p:spPr>
            <a:xfrm>
              <a:off x="0" y="433689"/>
              <a:ext cx="867378" cy="0"/>
            </a:xfrm>
            <a:prstGeom prst="line">
              <a:avLst/>
            </a:prstGeom>
            <a:ln w="139700" cap="flat">
              <a:solidFill>
                <a:srgbClr val="4A60DD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AutoShape 4"/>
            <p:cNvSpPr/>
            <p:nvPr/>
          </p:nvSpPr>
          <p:spPr>
            <a:xfrm flipV="1">
              <a:off x="433689" y="0"/>
              <a:ext cx="0" cy="867378"/>
            </a:xfrm>
            <a:prstGeom prst="line">
              <a:avLst/>
            </a:prstGeom>
            <a:ln w="139700" cap="flat">
              <a:solidFill>
                <a:srgbClr val="4A60DD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" name="AutoShape 5"/>
            <p:cNvSpPr/>
            <p:nvPr/>
          </p:nvSpPr>
          <p:spPr>
            <a:xfrm flipV="1">
              <a:off x="127025" y="127025"/>
              <a:ext cx="613329" cy="613329"/>
            </a:xfrm>
            <a:prstGeom prst="line">
              <a:avLst/>
            </a:prstGeom>
            <a:ln w="139700" cap="flat">
              <a:solidFill>
                <a:srgbClr val="4A60DD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" name="AutoShape 6"/>
            <p:cNvSpPr/>
            <p:nvPr/>
          </p:nvSpPr>
          <p:spPr>
            <a:xfrm flipH="1" flipV="1">
              <a:off x="127025" y="127025"/>
              <a:ext cx="613329" cy="613329"/>
            </a:xfrm>
            <a:prstGeom prst="line">
              <a:avLst/>
            </a:prstGeom>
            <a:ln w="139700" cap="flat">
              <a:solidFill>
                <a:srgbClr val="4A60DD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028700" y="6736670"/>
            <a:ext cx="8896883" cy="12840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altLang="ko-KR" sz="2400" dirty="0">
                <a:solidFill>
                  <a:srgbClr val="292929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ZNS SSD</a:t>
            </a:r>
            <a:r>
              <a:rPr lang="ko-KR" altLang="en-US" sz="2400" dirty="0">
                <a:solidFill>
                  <a:srgbClr val="292929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는 </a:t>
            </a:r>
            <a:r>
              <a:rPr lang="en-US" altLang="ko-KR" sz="2400" dirty="0">
                <a:solidFill>
                  <a:srgbClr val="292929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SSD </a:t>
            </a:r>
            <a:r>
              <a:rPr lang="ko-KR" altLang="en-US" sz="2400" dirty="0">
                <a:solidFill>
                  <a:srgbClr val="292929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내부 구조와 동작 특성을 시스템에 직접 노출하는 인터페이스를 제공한다</a:t>
            </a:r>
            <a:r>
              <a:rPr lang="en-US" altLang="ko-KR" sz="2400" dirty="0">
                <a:solidFill>
                  <a:srgbClr val="292929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. </a:t>
            </a:r>
            <a:r>
              <a:rPr lang="ko-KR" altLang="en-US" sz="2400" dirty="0">
                <a:solidFill>
                  <a:srgbClr val="292929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이를 통해 데이터 배치와 쓰기 동작을 최적화할 수 있어</a:t>
            </a:r>
            <a:r>
              <a:rPr lang="en-US" altLang="ko-KR" sz="2400" dirty="0">
                <a:solidFill>
                  <a:srgbClr val="292929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, </a:t>
            </a:r>
            <a:r>
              <a:rPr lang="ko-KR" altLang="en-US" sz="2400" dirty="0">
                <a:solidFill>
                  <a:srgbClr val="292929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성능 향상과 수명 연장에 효과적이다</a:t>
            </a:r>
            <a:r>
              <a:rPr lang="en-US" altLang="ko-KR" sz="2400" dirty="0">
                <a:solidFill>
                  <a:srgbClr val="292929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.</a:t>
            </a:r>
            <a:endParaRPr lang="en-US" sz="2400" dirty="0">
              <a:solidFill>
                <a:srgbClr val="292929"/>
              </a:solidFill>
              <a:latin typeface="Tlab 돋움 레귤러"/>
              <a:ea typeface="Tlab 돋움 레귤러"/>
              <a:cs typeface="Tlab 돋움 레귤러"/>
              <a:sym typeface="Tlab 돋움 레귤러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028700" y="3530641"/>
            <a:ext cx="8896883" cy="17200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altLang="ko-KR" sz="2400" dirty="0">
                <a:solidFill>
                  <a:srgbClr val="292929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SSD</a:t>
            </a:r>
            <a:r>
              <a:rPr lang="ko-KR" altLang="en-US" sz="2400" dirty="0">
                <a:solidFill>
                  <a:srgbClr val="292929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는 </a:t>
            </a:r>
            <a:r>
              <a:rPr lang="en-US" altLang="ko-KR" sz="2400" dirty="0">
                <a:solidFill>
                  <a:srgbClr val="292929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HDD</a:t>
            </a:r>
            <a:r>
              <a:rPr lang="ko-KR" altLang="en-US" sz="2400" dirty="0">
                <a:solidFill>
                  <a:srgbClr val="292929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와 달리 </a:t>
            </a:r>
            <a:r>
              <a:rPr lang="en-US" altLang="ko-KR" sz="2400" dirty="0">
                <a:solidFill>
                  <a:srgbClr val="292929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out-of-place write</a:t>
            </a:r>
            <a:r>
              <a:rPr lang="ko-KR" altLang="en-US" sz="2400" dirty="0">
                <a:solidFill>
                  <a:srgbClr val="292929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와 같은 독특한 특성을 갖지만</a:t>
            </a:r>
            <a:r>
              <a:rPr lang="en-US" altLang="ko-KR" sz="2400" dirty="0">
                <a:solidFill>
                  <a:srgbClr val="292929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, </a:t>
            </a:r>
            <a:r>
              <a:rPr lang="ko-KR" altLang="en-US" sz="2400" dirty="0">
                <a:solidFill>
                  <a:srgbClr val="292929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기존 시스템은 이를 무시하고 </a:t>
            </a:r>
            <a:r>
              <a:rPr lang="en-US" altLang="ko-KR" sz="2400" dirty="0">
                <a:solidFill>
                  <a:srgbClr val="292929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HDD</a:t>
            </a:r>
            <a:r>
              <a:rPr lang="ko-KR" altLang="en-US" sz="2400" dirty="0">
                <a:solidFill>
                  <a:srgbClr val="292929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용 블록 디바이스 인터페이스</a:t>
            </a:r>
            <a:r>
              <a:rPr lang="en-US" altLang="ko-KR" sz="2400" dirty="0">
                <a:solidFill>
                  <a:srgbClr val="292929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(</a:t>
            </a:r>
            <a:r>
              <a:rPr lang="en-US" altLang="ko-KR" sz="2400" dirty="0" err="1">
                <a:solidFill>
                  <a:srgbClr val="292929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bdev</a:t>
            </a:r>
            <a:r>
              <a:rPr lang="en-US" altLang="ko-KR" sz="2400" dirty="0">
                <a:solidFill>
                  <a:srgbClr val="292929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)</a:t>
            </a:r>
            <a:r>
              <a:rPr lang="ko-KR" altLang="en-US" sz="2400" dirty="0">
                <a:solidFill>
                  <a:srgbClr val="292929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를 그대로 사용한다</a:t>
            </a:r>
            <a:r>
              <a:rPr lang="en-US" altLang="ko-KR" sz="2400" dirty="0">
                <a:solidFill>
                  <a:srgbClr val="292929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. </a:t>
            </a:r>
            <a:r>
              <a:rPr lang="ko-KR" altLang="en-US" sz="2400" dirty="0">
                <a:solidFill>
                  <a:srgbClr val="292929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이로 인해 </a:t>
            </a:r>
            <a:r>
              <a:rPr lang="en-US" altLang="ko-KR" sz="2400" dirty="0">
                <a:solidFill>
                  <a:srgbClr val="292929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SSD</a:t>
            </a:r>
            <a:r>
              <a:rPr lang="ko-KR" altLang="en-US" sz="2400" dirty="0">
                <a:solidFill>
                  <a:srgbClr val="292929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의 성능과 수명을 충분히 활용하지 못하는 비효율이 발생한다</a:t>
            </a:r>
            <a:r>
              <a:rPr lang="en-US" altLang="ko-KR" sz="2400" dirty="0">
                <a:solidFill>
                  <a:srgbClr val="292929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.</a:t>
            </a:r>
            <a:endParaRPr lang="en-US" sz="2400" dirty="0">
              <a:solidFill>
                <a:srgbClr val="292929"/>
              </a:solidFill>
              <a:latin typeface="Tlab 돋움 레귤러"/>
              <a:ea typeface="Tlab 돋움 레귤러"/>
              <a:cs typeface="Tlab 돋움 레귤러"/>
              <a:sym typeface="Tlab 돋움 레귤러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028700" y="2690730"/>
            <a:ext cx="5389995" cy="6489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altLang="ko-KR" sz="2800" b="1" spc="28" dirty="0">
                <a:solidFill>
                  <a:srgbClr val="4A60DD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SSD</a:t>
            </a:r>
            <a:r>
              <a:rPr lang="ko-KR" altLang="en-US" sz="2800" b="1" spc="28" dirty="0">
                <a:solidFill>
                  <a:srgbClr val="4A60DD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와 기존 인터페이스의 한계</a:t>
            </a:r>
            <a:endParaRPr lang="en-US" sz="2800" b="1" spc="28" dirty="0">
              <a:solidFill>
                <a:srgbClr val="4A60DD"/>
              </a:solidFill>
              <a:latin typeface="Tlab 돋움 레귤러 Bold"/>
              <a:ea typeface="Tlab 돋움 레귤러 Bold"/>
              <a:cs typeface="Tlab 돋움 레귤러 Bold"/>
              <a:sym typeface="Tlab 돋움 레귤러 Bold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028700" y="5883235"/>
            <a:ext cx="5389995" cy="6489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altLang="ko-KR" sz="2800" b="1" spc="28" dirty="0">
                <a:solidFill>
                  <a:srgbClr val="4A60DD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ZNS SSD</a:t>
            </a:r>
            <a:r>
              <a:rPr lang="ko-KR" altLang="en-US" sz="2800" b="1" spc="28" dirty="0">
                <a:solidFill>
                  <a:srgbClr val="4A60DD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의 등장과 개선점</a:t>
            </a:r>
            <a:endParaRPr lang="en-US" sz="2800" b="1" spc="28" dirty="0">
              <a:solidFill>
                <a:srgbClr val="4A60DD"/>
              </a:solidFill>
              <a:latin typeface="Tlab 돋움 레귤러 Bold"/>
              <a:ea typeface="Tlab 돋움 레귤러 Bold"/>
              <a:cs typeface="Tlab 돋움 레귤러 Bold"/>
              <a:sym typeface="Tlab 돋움 레귤러 Bold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982796" y="1257103"/>
            <a:ext cx="8192746" cy="930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sz="6999" b="1" spc="-209">
                <a:solidFill>
                  <a:srgbClr val="4A60DD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ZNS SSD</a:t>
            </a:r>
          </a:p>
        </p:txBody>
      </p:sp>
      <p:pic>
        <p:nvPicPr>
          <p:cNvPr id="13" name="object 6">
            <a:extLst>
              <a:ext uri="{FF2B5EF4-FFF2-40B4-BE49-F238E27FC236}">
                <a16:creationId xmlns:a16="http://schemas.microsoft.com/office/drawing/2014/main" id="{25D68738-F68C-498C-4BD8-46AC257D4F53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25583" y="3015211"/>
            <a:ext cx="7976999" cy="394861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8F9360C-5EFA-34C3-5802-BA17C7BEAC92}"/>
              </a:ext>
            </a:extLst>
          </p:cNvPr>
          <p:cNvSpPr txBox="1"/>
          <p:nvPr/>
        </p:nvSpPr>
        <p:spPr>
          <a:xfrm>
            <a:off x="13280200" y="9791700"/>
            <a:ext cx="49932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dirty="0">
                <a:latin typeface="+mj-lt"/>
              </a:rPr>
              <a:t>이미지 출처</a:t>
            </a:r>
            <a:r>
              <a:rPr lang="en-US" altLang="ko-KR" dirty="0">
                <a:latin typeface="+mj-lt"/>
              </a:rPr>
              <a:t>: </a:t>
            </a:r>
            <a:r>
              <a:rPr lang="en-US" altLang="ko-KR" dirty="0" err="1">
                <a:latin typeface="+mj-lt"/>
                <a:cs typeface="Arial MT"/>
                <a:hlinkClick r:id="rId3"/>
              </a:rPr>
              <a:t>bjoring</a:t>
            </a:r>
            <a:r>
              <a:rPr lang="en-US" altLang="ko-KR" spc="45" dirty="0">
                <a:latin typeface="+mj-lt"/>
                <a:cs typeface="Arial MT"/>
                <a:hlinkClick r:id="rId3"/>
              </a:rPr>
              <a:t> </a:t>
            </a:r>
            <a:r>
              <a:rPr lang="en-US" altLang="ko-KR" dirty="0">
                <a:latin typeface="+mj-lt"/>
                <a:cs typeface="Arial MT"/>
                <a:hlinkClick r:id="rId3"/>
              </a:rPr>
              <a:t>et</a:t>
            </a:r>
            <a:r>
              <a:rPr lang="en-US" altLang="ko-KR" spc="40" dirty="0">
                <a:latin typeface="+mj-lt"/>
                <a:cs typeface="Arial MT"/>
                <a:hlinkClick r:id="rId3"/>
              </a:rPr>
              <a:t> </a:t>
            </a:r>
            <a:r>
              <a:rPr lang="en-US" altLang="ko-KR" spc="-20" dirty="0">
                <a:latin typeface="+mj-lt"/>
                <a:cs typeface="Arial MT"/>
                <a:hlinkClick r:id="rId3"/>
              </a:rPr>
              <a:t>al</a:t>
            </a:r>
            <a:r>
              <a:rPr lang="en-US" altLang="ko-KR" spc="-20" dirty="0">
                <a:latin typeface="+mj-lt"/>
                <a:cs typeface="Malgun Gothic"/>
              </a:rPr>
              <a:t>.</a:t>
            </a:r>
            <a:endParaRPr lang="ko-KR" altLang="en-US" dirty="0">
              <a:latin typeface="+mj-l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D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330298"/>
            <a:ext cx="650534" cy="650534"/>
            <a:chOff x="0" y="0"/>
            <a:chExt cx="867378" cy="867378"/>
          </a:xfrm>
        </p:grpSpPr>
        <p:sp>
          <p:nvSpPr>
            <p:cNvPr id="3" name="AutoShape 3"/>
            <p:cNvSpPr/>
            <p:nvPr/>
          </p:nvSpPr>
          <p:spPr>
            <a:xfrm>
              <a:off x="0" y="433689"/>
              <a:ext cx="867378" cy="0"/>
            </a:xfrm>
            <a:prstGeom prst="line">
              <a:avLst/>
            </a:prstGeom>
            <a:ln w="139700" cap="flat">
              <a:solidFill>
                <a:srgbClr val="4A60DD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AutoShape 4"/>
            <p:cNvSpPr/>
            <p:nvPr/>
          </p:nvSpPr>
          <p:spPr>
            <a:xfrm flipV="1">
              <a:off x="433689" y="0"/>
              <a:ext cx="0" cy="867378"/>
            </a:xfrm>
            <a:prstGeom prst="line">
              <a:avLst/>
            </a:prstGeom>
            <a:ln w="139700" cap="flat">
              <a:solidFill>
                <a:srgbClr val="4A60DD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" name="AutoShape 5"/>
            <p:cNvSpPr/>
            <p:nvPr/>
          </p:nvSpPr>
          <p:spPr>
            <a:xfrm flipV="1">
              <a:off x="127025" y="127025"/>
              <a:ext cx="613329" cy="613329"/>
            </a:xfrm>
            <a:prstGeom prst="line">
              <a:avLst/>
            </a:prstGeom>
            <a:ln w="139700" cap="flat">
              <a:solidFill>
                <a:srgbClr val="4A60DD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" name="AutoShape 6"/>
            <p:cNvSpPr/>
            <p:nvPr/>
          </p:nvSpPr>
          <p:spPr>
            <a:xfrm flipH="1" flipV="1">
              <a:off x="127025" y="127025"/>
              <a:ext cx="613329" cy="613329"/>
            </a:xfrm>
            <a:prstGeom prst="line">
              <a:avLst/>
            </a:prstGeom>
            <a:ln w="139700" cap="flat">
              <a:solidFill>
                <a:srgbClr val="4A60DD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317138" y="3067724"/>
            <a:ext cx="8069615" cy="644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99"/>
              </a:lnSpc>
            </a:pPr>
            <a:r>
              <a:rPr lang="en-US" sz="3999" b="1" spc="-39" dirty="0">
                <a:solidFill>
                  <a:srgbClr val="424242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키-</a:t>
            </a:r>
            <a:r>
              <a:rPr lang="en-US" sz="3999" b="1" spc="-39" dirty="0" err="1">
                <a:solidFill>
                  <a:srgbClr val="424242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밸류</a:t>
            </a:r>
            <a:r>
              <a:rPr lang="en-US" sz="3999" b="1" spc="-39" dirty="0">
                <a:solidFill>
                  <a:srgbClr val="424242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 </a:t>
            </a:r>
            <a:r>
              <a:rPr lang="en-US" sz="3999" b="1" spc="-39" dirty="0" err="1">
                <a:solidFill>
                  <a:srgbClr val="424242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스토어</a:t>
            </a:r>
            <a:endParaRPr lang="en-US" sz="3999" b="1" spc="-39" dirty="0">
              <a:solidFill>
                <a:srgbClr val="424242"/>
              </a:solidFill>
              <a:latin typeface="Tlab 돋움 레귤러 Bold"/>
              <a:ea typeface="Tlab 돋움 레귤러 Bold"/>
              <a:cs typeface="Tlab 돋움 레귤러 Bold"/>
              <a:sym typeface="Tlab 돋움 레귤러 Bold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317138" y="3959522"/>
            <a:ext cx="9884262" cy="16049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299"/>
              </a:lnSpc>
            </a:pPr>
            <a:r>
              <a:rPr lang="ko-KR" altLang="en-US" sz="2499" dirty="0">
                <a:solidFill>
                  <a:srgbClr val="424242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키</a:t>
            </a:r>
            <a:r>
              <a:rPr lang="en-US" altLang="ko-KR" sz="2499" dirty="0">
                <a:solidFill>
                  <a:srgbClr val="424242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-</a:t>
            </a:r>
            <a:r>
              <a:rPr lang="ko-KR" altLang="en-US" sz="2499" dirty="0" err="1">
                <a:solidFill>
                  <a:srgbClr val="424242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밸류</a:t>
            </a:r>
            <a:r>
              <a:rPr lang="ko-KR" altLang="en-US" sz="2499" dirty="0">
                <a:solidFill>
                  <a:srgbClr val="424242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 스토어는 디스크에 저장 가능한 해시테이블 기반 구조로</a:t>
            </a:r>
            <a:r>
              <a:rPr lang="en-US" altLang="ko-KR" sz="2499" dirty="0">
                <a:solidFill>
                  <a:srgbClr val="424242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, </a:t>
            </a:r>
            <a:r>
              <a:rPr lang="ko-KR" altLang="en-US" sz="2499" dirty="0">
                <a:solidFill>
                  <a:srgbClr val="424242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키를 통해 값을 빠르게 조회</a:t>
            </a:r>
            <a:r>
              <a:rPr lang="en-US" altLang="ko-KR" sz="2499" dirty="0">
                <a:solidFill>
                  <a:srgbClr val="424242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·</a:t>
            </a:r>
            <a:r>
              <a:rPr lang="ko-KR" altLang="en-US" sz="2499" dirty="0">
                <a:solidFill>
                  <a:srgbClr val="424242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수정할 수 있다</a:t>
            </a:r>
            <a:r>
              <a:rPr lang="en-US" altLang="ko-KR" sz="2499" dirty="0">
                <a:solidFill>
                  <a:srgbClr val="424242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. </a:t>
            </a:r>
            <a:r>
              <a:rPr lang="ko-KR" altLang="en-US" sz="2499" dirty="0">
                <a:solidFill>
                  <a:srgbClr val="424242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관계형 </a:t>
            </a:r>
            <a:r>
              <a:rPr lang="en-US" altLang="ko-KR" sz="2499" dirty="0">
                <a:solidFill>
                  <a:srgbClr val="424242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DB</a:t>
            </a:r>
            <a:r>
              <a:rPr lang="ko-KR" altLang="en-US" sz="2499" dirty="0">
                <a:solidFill>
                  <a:srgbClr val="424242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보다 모델이 단순하며</a:t>
            </a:r>
            <a:r>
              <a:rPr lang="en-US" altLang="ko-KR" sz="2499" dirty="0">
                <a:solidFill>
                  <a:srgbClr val="424242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, </a:t>
            </a:r>
            <a:r>
              <a:rPr lang="ko-KR" altLang="en-US" sz="2499" dirty="0">
                <a:solidFill>
                  <a:srgbClr val="424242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높은 성능 덕분에 캐시</a:t>
            </a:r>
            <a:r>
              <a:rPr lang="en-US" altLang="ko-KR" sz="2499" dirty="0">
                <a:solidFill>
                  <a:srgbClr val="424242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, </a:t>
            </a:r>
            <a:r>
              <a:rPr lang="ko-KR" altLang="en-US" sz="2499" dirty="0">
                <a:solidFill>
                  <a:srgbClr val="424242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로그 저장</a:t>
            </a:r>
            <a:r>
              <a:rPr lang="en-US" altLang="ko-KR" sz="2499" dirty="0">
                <a:solidFill>
                  <a:srgbClr val="424242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, </a:t>
            </a:r>
            <a:r>
              <a:rPr lang="ko-KR" altLang="en-US" sz="2499" dirty="0">
                <a:solidFill>
                  <a:srgbClr val="424242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대규모 데이터 처리 등에 활용된다</a:t>
            </a:r>
            <a:r>
              <a:rPr lang="en-US" altLang="ko-KR" sz="2499" dirty="0">
                <a:solidFill>
                  <a:srgbClr val="424242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.</a:t>
            </a:r>
            <a:endParaRPr lang="en-US" sz="2499" dirty="0">
              <a:solidFill>
                <a:srgbClr val="424242"/>
              </a:solidFill>
              <a:latin typeface="Tlab 돋움 레귤러"/>
              <a:ea typeface="Tlab 돋움 레귤러"/>
              <a:cs typeface="Tlab 돋움 레귤러"/>
              <a:sym typeface="Tlab 돋움 레귤러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982796" y="1257103"/>
            <a:ext cx="5997609" cy="930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sz="6999" b="1" spc="-209" dirty="0">
                <a:solidFill>
                  <a:srgbClr val="4A60DD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키-</a:t>
            </a:r>
            <a:r>
              <a:rPr lang="en-US" sz="6999" b="1" spc="-209" dirty="0" err="1">
                <a:solidFill>
                  <a:srgbClr val="4A60DD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밸류</a:t>
            </a:r>
            <a:r>
              <a:rPr lang="en-US" sz="6999" b="1" spc="-209" dirty="0">
                <a:solidFill>
                  <a:srgbClr val="4A60DD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 </a:t>
            </a:r>
            <a:r>
              <a:rPr lang="en-US" sz="6999" b="1" spc="-209" dirty="0" err="1">
                <a:solidFill>
                  <a:srgbClr val="4A60DD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스토어</a:t>
            </a:r>
            <a:endParaRPr lang="en-US" sz="6999" b="1" spc="-209" dirty="0">
              <a:solidFill>
                <a:srgbClr val="4A60DD"/>
              </a:solidFill>
              <a:latin typeface="Tlab 돋움 레귤러 Bold"/>
              <a:ea typeface="Tlab 돋움 레귤러 Bold"/>
              <a:cs typeface="Tlab 돋움 레귤러 Bold"/>
              <a:sym typeface="Tlab 돋움 레귤러 Bold"/>
            </a:endParaRPr>
          </a:p>
        </p:txBody>
      </p:sp>
      <p:sp>
        <p:nvSpPr>
          <p:cNvPr id="10" name="Freeform 10"/>
          <p:cNvSpPr/>
          <p:nvPr/>
        </p:nvSpPr>
        <p:spPr>
          <a:xfrm>
            <a:off x="11734800" y="3215037"/>
            <a:ext cx="5923795" cy="3856926"/>
          </a:xfrm>
          <a:custGeom>
            <a:avLst/>
            <a:gdLst/>
            <a:ahLst/>
            <a:cxnLst/>
            <a:rect l="l" t="t" r="r" b="b"/>
            <a:pathLst>
              <a:path w="5923795" h="3856926">
                <a:moveTo>
                  <a:pt x="0" y="0"/>
                </a:moveTo>
                <a:lnTo>
                  <a:pt x="5923794" y="0"/>
                </a:lnTo>
                <a:lnTo>
                  <a:pt x="5923794" y="3856925"/>
                </a:lnTo>
                <a:lnTo>
                  <a:pt x="0" y="38569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8A4B357-EBA1-B083-9298-33A7846AF866}"/>
              </a:ext>
            </a:extLst>
          </p:cNvPr>
          <p:cNvSpPr txBox="1"/>
          <p:nvPr/>
        </p:nvSpPr>
        <p:spPr>
          <a:xfrm>
            <a:off x="13280200" y="9791700"/>
            <a:ext cx="49932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dirty="0">
                <a:latin typeface="+mj-lt"/>
              </a:rPr>
              <a:t>이미지 출처</a:t>
            </a:r>
            <a:r>
              <a:rPr lang="en-US" altLang="ko-KR" dirty="0">
                <a:latin typeface="+mj-lt"/>
              </a:rPr>
              <a:t>: </a:t>
            </a:r>
            <a:r>
              <a:rPr lang="en-US" altLang="ko-KR" spc="-10" dirty="0" err="1">
                <a:latin typeface="+mj-lt"/>
                <a:cs typeface="Arial MT"/>
                <a:hlinkClick r:id="rId3"/>
              </a:rPr>
              <a:t>wikipedia</a:t>
            </a:r>
            <a:endParaRPr lang="ko-KR" altLang="en-US" dirty="0">
              <a:latin typeface="+mj-l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D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330298"/>
            <a:ext cx="650534" cy="650534"/>
            <a:chOff x="0" y="0"/>
            <a:chExt cx="867378" cy="867378"/>
          </a:xfrm>
        </p:grpSpPr>
        <p:sp>
          <p:nvSpPr>
            <p:cNvPr id="3" name="AutoShape 3"/>
            <p:cNvSpPr/>
            <p:nvPr/>
          </p:nvSpPr>
          <p:spPr>
            <a:xfrm>
              <a:off x="0" y="433689"/>
              <a:ext cx="867378" cy="0"/>
            </a:xfrm>
            <a:prstGeom prst="line">
              <a:avLst/>
            </a:prstGeom>
            <a:ln w="139700" cap="flat">
              <a:solidFill>
                <a:srgbClr val="4A60DD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AutoShape 4"/>
            <p:cNvSpPr/>
            <p:nvPr/>
          </p:nvSpPr>
          <p:spPr>
            <a:xfrm flipV="1">
              <a:off x="433689" y="0"/>
              <a:ext cx="0" cy="867378"/>
            </a:xfrm>
            <a:prstGeom prst="line">
              <a:avLst/>
            </a:prstGeom>
            <a:ln w="139700" cap="flat">
              <a:solidFill>
                <a:srgbClr val="4A60DD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" name="AutoShape 5"/>
            <p:cNvSpPr/>
            <p:nvPr/>
          </p:nvSpPr>
          <p:spPr>
            <a:xfrm flipV="1">
              <a:off x="127025" y="127025"/>
              <a:ext cx="613329" cy="613329"/>
            </a:xfrm>
            <a:prstGeom prst="line">
              <a:avLst/>
            </a:prstGeom>
            <a:ln w="139700" cap="flat">
              <a:solidFill>
                <a:srgbClr val="4A60DD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" name="AutoShape 6"/>
            <p:cNvSpPr/>
            <p:nvPr/>
          </p:nvSpPr>
          <p:spPr>
            <a:xfrm flipH="1" flipV="1">
              <a:off x="127025" y="127025"/>
              <a:ext cx="613329" cy="613329"/>
            </a:xfrm>
            <a:prstGeom prst="line">
              <a:avLst/>
            </a:prstGeom>
            <a:ln w="139700" cap="flat">
              <a:solidFill>
                <a:srgbClr val="4A60DD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7" name="Freeform 7"/>
          <p:cNvSpPr/>
          <p:nvPr/>
        </p:nvSpPr>
        <p:spPr>
          <a:xfrm>
            <a:off x="10721022" y="3330617"/>
            <a:ext cx="6538278" cy="1641585"/>
          </a:xfrm>
          <a:custGeom>
            <a:avLst/>
            <a:gdLst/>
            <a:ahLst/>
            <a:cxnLst/>
            <a:rect l="l" t="t" r="r" b="b"/>
            <a:pathLst>
              <a:path w="6538278" h="1641585">
                <a:moveTo>
                  <a:pt x="0" y="0"/>
                </a:moveTo>
                <a:lnTo>
                  <a:pt x="6538278" y="0"/>
                </a:lnTo>
                <a:lnTo>
                  <a:pt x="6538278" y="1641584"/>
                </a:lnTo>
                <a:lnTo>
                  <a:pt x="0" y="16415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8" name="TextBox 8"/>
          <p:cNvSpPr txBox="1"/>
          <p:nvPr/>
        </p:nvSpPr>
        <p:spPr>
          <a:xfrm>
            <a:off x="1028700" y="6736670"/>
            <a:ext cx="8896883" cy="17200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altLang="ko-KR" sz="2400" dirty="0" err="1">
                <a:solidFill>
                  <a:srgbClr val="292929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RocksDB</a:t>
            </a:r>
            <a:r>
              <a:rPr lang="ko-KR" altLang="en-US" sz="2400" dirty="0">
                <a:solidFill>
                  <a:srgbClr val="292929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는 </a:t>
            </a:r>
            <a:r>
              <a:rPr lang="en-US" altLang="ko-KR" sz="2400" dirty="0">
                <a:solidFill>
                  <a:srgbClr val="292929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LSM-Tree(Log-Structured Merge-Tree) </a:t>
            </a:r>
            <a:r>
              <a:rPr lang="ko-KR" altLang="en-US" sz="2400" dirty="0">
                <a:solidFill>
                  <a:srgbClr val="292929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구조를 사용하여 데이터를 계층적으로 관리하고</a:t>
            </a:r>
            <a:r>
              <a:rPr lang="en-US" altLang="ko-KR" sz="2400" dirty="0">
                <a:solidFill>
                  <a:srgbClr val="292929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, </a:t>
            </a:r>
            <a:r>
              <a:rPr lang="ko-KR" altLang="en-US" sz="2400" dirty="0">
                <a:solidFill>
                  <a:srgbClr val="292929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쓰기 성능을 극대화하였다</a:t>
            </a:r>
            <a:r>
              <a:rPr lang="en-US" altLang="ko-KR" sz="2400" dirty="0">
                <a:solidFill>
                  <a:srgbClr val="292929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. </a:t>
            </a:r>
            <a:r>
              <a:rPr lang="ko-KR" altLang="en-US" sz="2400" dirty="0">
                <a:solidFill>
                  <a:srgbClr val="292929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또한 </a:t>
            </a:r>
            <a:r>
              <a:rPr lang="en-US" altLang="ko-KR" sz="2400" dirty="0">
                <a:solidFill>
                  <a:srgbClr val="292929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SSD </a:t>
            </a:r>
            <a:r>
              <a:rPr lang="ko-KR" altLang="en-US" sz="2400" dirty="0">
                <a:solidFill>
                  <a:srgbClr val="292929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환경에 </a:t>
            </a:r>
            <a:r>
              <a:rPr lang="ko-KR" altLang="en-US" sz="2400">
                <a:solidFill>
                  <a:srgbClr val="292929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최적화되어 대규모 </a:t>
            </a:r>
            <a:r>
              <a:rPr lang="ko-KR" altLang="en-US" sz="2400" dirty="0">
                <a:solidFill>
                  <a:srgbClr val="292929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로그 처리</a:t>
            </a:r>
            <a:r>
              <a:rPr lang="en-US" altLang="ko-KR" sz="2400" dirty="0">
                <a:solidFill>
                  <a:srgbClr val="292929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, </a:t>
            </a:r>
            <a:r>
              <a:rPr lang="ko-KR" altLang="en-US" sz="2400" dirty="0">
                <a:solidFill>
                  <a:srgbClr val="292929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캐시</a:t>
            </a:r>
            <a:r>
              <a:rPr lang="en-US" altLang="ko-KR" sz="2400" dirty="0">
                <a:solidFill>
                  <a:srgbClr val="292929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, </a:t>
            </a:r>
            <a:r>
              <a:rPr lang="ko-KR" altLang="en-US" sz="2400" dirty="0">
                <a:solidFill>
                  <a:srgbClr val="292929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데이터베이스 등 다양한 분야에서 활용된다</a:t>
            </a:r>
            <a:r>
              <a:rPr lang="en-US" altLang="ko-KR" sz="2400" dirty="0">
                <a:solidFill>
                  <a:srgbClr val="292929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.</a:t>
            </a:r>
            <a:endParaRPr lang="en-US" sz="2400" dirty="0">
              <a:solidFill>
                <a:srgbClr val="292929"/>
              </a:solidFill>
              <a:latin typeface="Tlab 돋움 레귤러"/>
              <a:ea typeface="Tlab 돋움 레귤러"/>
              <a:cs typeface="Tlab 돋움 레귤러"/>
              <a:sym typeface="Tlab 돋움 레귤러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028700" y="3530641"/>
            <a:ext cx="8896883" cy="17200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altLang="ko-KR" sz="2400" dirty="0" err="1">
                <a:solidFill>
                  <a:srgbClr val="292929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RocksDB</a:t>
            </a:r>
            <a:r>
              <a:rPr lang="ko-KR" altLang="en-US" sz="2400" dirty="0">
                <a:solidFill>
                  <a:srgbClr val="292929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는 메타</a:t>
            </a:r>
            <a:r>
              <a:rPr lang="en-US" altLang="ko-KR" sz="2400" dirty="0">
                <a:solidFill>
                  <a:srgbClr val="292929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(</a:t>
            </a:r>
            <a:r>
              <a:rPr lang="ko-KR" altLang="en-US" sz="2400" dirty="0">
                <a:solidFill>
                  <a:srgbClr val="292929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구 페이스북</a:t>
            </a:r>
            <a:r>
              <a:rPr lang="en-US" altLang="ko-KR" sz="2400" dirty="0">
                <a:solidFill>
                  <a:srgbClr val="292929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)</a:t>
            </a:r>
            <a:r>
              <a:rPr lang="ko-KR" altLang="en-US" sz="2400" dirty="0">
                <a:solidFill>
                  <a:srgbClr val="292929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에서 개발한 고성능 키</a:t>
            </a:r>
            <a:r>
              <a:rPr lang="en-US" altLang="ko-KR" sz="2400" dirty="0">
                <a:solidFill>
                  <a:srgbClr val="292929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-</a:t>
            </a:r>
            <a:r>
              <a:rPr lang="ko-KR" altLang="en-US" sz="2400" dirty="0" err="1">
                <a:solidFill>
                  <a:srgbClr val="292929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밸류</a:t>
            </a:r>
            <a:r>
              <a:rPr lang="ko-KR" altLang="en-US" sz="2400" dirty="0">
                <a:solidFill>
                  <a:srgbClr val="292929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 스토어로</a:t>
            </a:r>
            <a:r>
              <a:rPr lang="en-US" altLang="ko-KR" sz="2400" dirty="0">
                <a:solidFill>
                  <a:srgbClr val="292929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, </a:t>
            </a:r>
            <a:r>
              <a:rPr lang="ko-KR" altLang="en-US" sz="2400" dirty="0">
                <a:solidFill>
                  <a:srgbClr val="292929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다양한 애플리케이션에서 대규모 데이터를 효율적으로 처리하기 위해 설계되었다</a:t>
            </a:r>
            <a:r>
              <a:rPr lang="en-US" altLang="ko-KR" sz="2400" dirty="0">
                <a:solidFill>
                  <a:srgbClr val="292929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 </a:t>
            </a:r>
            <a:r>
              <a:rPr lang="ko-KR" altLang="en-US" sz="2400" dirty="0">
                <a:solidFill>
                  <a:srgbClr val="292929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특히 단순한 키</a:t>
            </a:r>
            <a:r>
              <a:rPr lang="en-US" altLang="ko-KR" sz="2400" dirty="0">
                <a:solidFill>
                  <a:srgbClr val="292929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-</a:t>
            </a:r>
            <a:r>
              <a:rPr lang="ko-KR" altLang="en-US" sz="2400" dirty="0" err="1">
                <a:solidFill>
                  <a:srgbClr val="292929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밸류</a:t>
            </a:r>
            <a:r>
              <a:rPr lang="ko-KR" altLang="en-US" sz="2400" dirty="0">
                <a:solidFill>
                  <a:srgbClr val="292929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 데이터 모델을 기반으로 빠른 읽기</a:t>
            </a:r>
            <a:r>
              <a:rPr lang="en-US" altLang="ko-KR" sz="2400" dirty="0">
                <a:solidFill>
                  <a:srgbClr val="292929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·</a:t>
            </a:r>
            <a:r>
              <a:rPr lang="ko-KR" altLang="en-US" sz="2400" dirty="0">
                <a:solidFill>
                  <a:srgbClr val="292929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쓰기 성능을 제공한다</a:t>
            </a:r>
            <a:endParaRPr lang="en-US" sz="2400" dirty="0">
              <a:solidFill>
                <a:srgbClr val="292929"/>
              </a:solidFill>
              <a:latin typeface="Tlab 돋움 레귤러"/>
              <a:ea typeface="Tlab 돋움 레귤러"/>
              <a:cs typeface="Tlab 돋움 레귤러"/>
              <a:sym typeface="Tlab 돋움 레귤러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028700" y="2681654"/>
            <a:ext cx="5389995" cy="6489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2800" b="1" spc="28" dirty="0" err="1">
                <a:solidFill>
                  <a:srgbClr val="4A60DD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RocksDB</a:t>
            </a:r>
            <a:r>
              <a:rPr lang="en-US" sz="2800" b="1" spc="28" dirty="0">
                <a:solidFill>
                  <a:srgbClr val="4A60DD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 </a:t>
            </a:r>
            <a:r>
              <a:rPr lang="ko-KR" altLang="en-US" sz="2800" b="1" spc="28" dirty="0">
                <a:solidFill>
                  <a:srgbClr val="4A60DD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개요</a:t>
            </a:r>
            <a:endParaRPr lang="en-US" sz="2800" b="1" spc="28" dirty="0">
              <a:solidFill>
                <a:srgbClr val="4A60DD"/>
              </a:solidFill>
              <a:latin typeface="Tlab 돋움 레귤러 Bold"/>
              <a:ea typeface="Tlab 돋움 레귤러 Bold"/>
              <a:cs typeface="Tlab 돋움 레귤러 Bold"/>
              <a:sym typeface="Tlab 돋움 레귤러 Bold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028700" y="5883235"/>
            <a:ext cx="5389995" cy="6489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00"/>
              </a:lnSpc>
            </a:pPr>
            <a:r>
              <a:rPr lang="ko-KR" altLang="en-US" sz="2800" b="1" spc="28" dirty="0">
                <a:solidFill>
                  <a:srgbClr val="4A60DD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특징</a:t>
            </a:r>
            <a:endParaRPr lang="en-US" sz="2800" b="1" spc="28" dirty="0">
              <a:solidFill>
                <a:srgbClr val="4A60DD"/>
              </a:solidFill>
              <a:latin typeface="Tlab 돋움 레귤러 Bold"/>
              <a:ea typeface="Tlab 돋움 레귤러 Bold"/>
              <a:cs typeface="Tlab 돋움 레귤러 Bold"/>
              <a:sym typeface="Tlab 돋움 레귤러 Bold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982796" y="1257103"/>
            <a:ext cx="8192746" cy="930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sz="6999" b="1" spc="-209" dirty="0" err="1">
                <a:solidFill>
                  <a:srgbClr val="4A60DD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RocksDB</a:t>
            </a:r>
            <a:endParaRPr lang="en-US" sz="6999" b="1" spc="-209" dirty="0">
              <a:solidFill>
                <a:srgbClr val="4A60DD"/>
              </a:solidFill>
              <a:latin typeface="Tlab 돋움 레귤러 Bold"/>
              <a:ea typeface="Tlab 돋움 레귤러 Bold"/>
              <a:cs typeface="Tlab 돋움 레귤러 Bold"/>
              <a:sym typeface="Tlab 돋움 레귤러 Bold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3607395-D0E2-A86A-6023-4F2A174DE277}"/>
              </a:ext>
            </a:extLst>
          </p:cNvPr>
          <p:cNvSpPr txBox="1"/>
          <p:nvPr/>
        </p:nvSpPr>
        <p:spPr>
          <a:xfrm>
            <a:off x="13280200" y="9791700"/>
            <a:ext cx="49932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dirty="0">
                <a:latin typeface="+mj-lt"/>
              </a:rPr>
              <a:t>이미지 출처</a:t>
            </a:r>
            <a:r>
              <a:rPr lang="en-US" altLang="ko-KR" dirty="0">
                <a:latin typeface="+mj-lt"/>
              </a:rPr>
              <a:t>: </a:t>
            </a:r>
            <a:r>
              <a:rPr lang="en-US" altLang="ko-KR" spc="-10" dirty="0">
                <a:latin typeface="+mj-lt"/>
                <a:cs typeface="Arial MT"/>
                <a:hlinkClick r:id="rId3"/>
              </a:rPr>
              <a:t>meta</a:t>
            </a:r>
            <a:endParaRPr lang="ko-KR" altLang="en-US" dirty="0">
              <a:latin typeface="+mj-l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D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330298"/>
            <a:ext cx="650534" cy="650534"/>
            <a:chOff x="0" y="0"/>
            <a:chExt cx="867378" cy="867378"/>
          </a:xfrm>
        </p:grpSpPr>
        <p:sp>
          <p:nvSpPr>
            <p:cNvPr id="3" name="AutoShape 3"/>
            <p:cNvSpPr/>
            <p:nvPr/>
          </p:nvSpPr>
          <p:spPr>
            <a:xfrm>
              <a:off x="0" y="433689"/>
              <a:ext cx="867378" cy="0"/>
            </a:xfrm>
            <a:prstGeom prst="line">
              <a:avLst/>
            </a:prstGeom>
            <a:ln w="139700" cap="flat">
              <a:solidFill>
                <a:srgbClr val="4A60DD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AutoShape 4"/>
            <p:cNvSpPr/>
            <p:nvPr/>
          </p:nvSpPr>
          <p:spPr>
            <a:xfrm flipV="1">
              <a:off x="433689" y="0"/>
              <a:ext cx="0" cy="867378"/>
            </a:xfrm>
            <a:prstGeom prst="line">
              <a:avLst/>
            </a:prstGeom>
            <a:ln w="139700" cap="flat">
              <a:solidFill>
                <a:srgbClr val="4A60DD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" name="AutoShape 5"/>
            <p:cNvSpPr/>
            <p:nvPr/>
          </p:nvSpPr>
          <p:spPr>
            <a:xfrm flipV="1">
              <a:off x="127025" y="127025"/>
              <a:ext cx="613329" cy="613329"/>
            </a:xfrm>
            <a:prstGeom prst="line">
              <a:avLst/>
            </a:prstGeom>
            <a:ln w="139700" cap="flat">
              <a:solidFill>
                <a:srgbClr val="4A60DD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" name="AutoShape 6"/>
            <p:cNvSpPr/>
            <p:nvPr/>
          </p:nvSpPr>
          <p:spPr>
            <a:xfrm flipH="1" flipV="1">
              <a:off x="127025" y="127025"/>
              <a:ext cx="613329" cy="613329"/>
            </a:xfrm>
            <a:prstGeom prst="line">
              <a:avLst/>
            </a:prstGeom>
            <a:ln w="139700" cap="flat">
              <a:solidFill>
                <a:srgbClr val="4A60DD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317138" y="3067724"/>
            <a:ext cx="8069615" cy="644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99"/>
              </a:lnSpc>
            </a:pPr>
            <a:r>
              <a:rPr lang="en-US" sz="3999" b="1" spc="-39" dirty="0">
                <a:solidFill>
                  <a:srgbClr val="424242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SST</a:t>
            </a:r>
            <a:r>
              <a:rPr lang="ko-KR" altLang="en-US" sz="3999" b="1" spc="-39" dirty="0">
                <a:solidFill>
                  <a:srgbClr val="424242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 </a:t>
            </a:r>
            <a:r>
              <a:rPr lang="en-US" altLang="ko-KR" sz="3999" b="1" spc="-39" dirty="0">
                <a:solidFill>
                  <a:srgbClr val="424242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file</a:t>
            </a:r>
            <a:endParaRPr lang="en-US" sz="3999" b="1" spc="-39" dirty="0">
              <a:solidFill>
                <a:srgbClr val="424242"/>
              </a:solidFill>
              <a:latin typeface="Tlab 돋움 레귤러 Bold"/>
              <a:ea typeface="Tlab 돋움 레귤러 Bold"/>
              <a:cs typeface="Tlab 돋움 레귤러 Bold"/>
              <a:sym typeface="Tlab 돋움 레귤러 Bold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317138" y="3959522"/>
            <a:ext cx="8360262" cy="215642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299"/>
              </a:lnSpc>
            </a:pPr>
            <a:r>
              <a:rPr lang="en-US" altLang="ko-KR" sz="2499" dirty="0">
                <a:solidFill>
                  <a:srgbClr val="424242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SST </a:t>
            </a:r>
            <a:r>
              <a:rPr lang="ko-KR" altLang="en-US" sz="2499" dirty="0">
                <a:solidFill>
                  <a:srgbClr val="424242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파일은 </a:t>
            </a:r>
            <a:r>
              <a:rPr lang="en-US" altLang="ko-KR" sz="2499" dirty="0">
                <a:solidFill>
                  <a:srgbClr val="424242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(key, value) </a:t>
            </a:r>
            <a:r>
              <a:rPr lang="ko-KR" altLang="en-US" sz="2499" dirty="0">
                <a:solidFill>
                  <a:srgbClr val="424242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쌍을 저장하는 정렬된 파일 구조로</a:t>
            </a:r>
            <a:r>
              <a:rPr lang="en-US" altLang="ko-KR" sz="2499" dirty="0">
                <a:solidFill>
                  <a:srgbClr val="424242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, </a:t>
            </a:r>
            <a:r>
              <a:rPr lang="ko-KR" altLang="en-US" sz="2499" dirty="0">
                <a:solidFill>
                  <a:srgbClr val="424242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메모리에서 데이터는 항상 </a:t>
            </a:r>
            <a:r>
              <a:rPr lang="en-US" altLang="ko-KR" sz="2499" dirty="0">
                <a:solidFill>
                  <a:srgbClr val="424242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key </a:t>
            </a:r>
            <a:r>
              <a:rPr lang="ko-KR" altLang="en-US" sz="2499" dirty="0">
                <a:solidFill>
                  <a:srgbClr val="424242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기준으로 정렬된 상태로 관리되며</a:t>
            </a:r>
            <a:r>
              <a:rPr lang="en-US" altLang="ko-KR" sz="2499" dirty="0">
                <a:solidFill>
                  <a:srgbClr val="424242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, </a:t>
            </a:r>
            <a:r>
              <a:rPr lang="ko-KR" altLang="en-US" sz="2499" dirty="0">
                <a:solidFill>
                  <a:srgbClr val="424242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일정 조건이 되면 이 구조가 그대로 디스크에 기록되어 </a:t>
            </a:r>
            <a:r>
              <a:rPr lang="en-US" altLang="ko-KR" sz="2499" dirty="0">
                <a:solidFill>
                  <a:srgbClr val="424242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SST </a:t>
            </a:r>
            <a:r>
              <a:rPr lang="ko-KR" altLang="en-US" sz="2499" dirty="0">
                <a:solidFill>
                  <a:srgbClr val="424242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파일로 만들어진다</a:t>
            </a:r>
            <a:r>
              <a:rPr lang="en-US" altLang="ko-KR" sz="2499" dirty="0">
                <a:solidFill>
                  <a:srgbClr val="424242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.</a:t>
            </a:r>
            <a:endParaRPr lang="en-US" sz="2499" dirty="0">
              <a:solidFill>
                <a:srgbClr val="424242"/>
              </a:solidFill>
              <a:latin typeface="Tlab 돋움 레귤러"/>
              <a:ea typeface="Tlab 돋움 레귤러"/>
              <a:cs typeface="Tlab 돋움 레귤러"/>
              <a:sym typeface="Tlab 돋움 레귤러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982796" y="1257103"/>
            <a:ext cx="5997609" cy="930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sz="6999" b="1" spc="-209" dirty="0" err="1">
                <a:solidFill>
                  <a:srgbClr val="4A60DD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RocksDB</a:t>
            </a:r>
            <a:endParaRPr lang="en-US" sz="6999" b="1" spc="-209" dirty="0">
              <a:solidFill>
                <a:srgbClr val="4A60DD"/>
              </a:solidFill>
              <a:latin typeface="Tlab 돋움 레귤러 Bold"/>
              <a:ea typeface="Tlab 돋움 레귤러 Bold"/>
              <a:cs typeface="Tlab 돋움 레귤러 Bold"/>
              <a:sym typeface="Tlab 돋움 레귤러 Bold"/>
            </a:endParaRPr>
          </a:p>
        </p:txBody>
      </p:sp>
      <p:pic>
        <p:nvPicPr>
          <p:cNvPr id="11" name="object 6">
            <a:extLst>
              <a:ext uri="{FF2B5EF4-FFF2-40B4-BE49-F238E27FC236}">
                <a16:creationId xmlns:a16="http://schemas.microsoft.com/office/drawing/2014/main" id="{068A59ED-67E6-CE4A-21A7-F35308D9836E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06228" y="1862704"/>
            <a:ext cx="7650760" cy="594460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73C691A-8EE7-743A-25B4-873A541B6E39}"/>
              </a:ext>
            </a:extLst>
          </p:cNvPr>
          <p:cNvSpPr txBox="1"/>
          <p:nvPr/>
        </p:nvSpPr>
        <p:spPr>
          <a:xfrm>
            <a:off x="13280200" y="9791700"/>
            <a:ext cx="49932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dirty="0">
                <a:latin typeface="+mj-lt"/>
              </a:rPr>
              <a:t>이미지 출처</a:t>
            </a:r>
            <a:r>
              <a:rPr lang="en-US" altLang="ko-KR" dirty="0">
                <a:latin typeface="+mj-lt"/>
              </a:rPr>
              <a:t> : </a:t>
            </a:r>
            <a:r>
              <a:rPr lang="en-US" altLang="ko-KR" spc="-10" dirty="0">
                <a:latin typeface="+mj-lt"/>
                <a:cs typeface="Arial MT"/>
                <a:hlinkClick r:id="rId3"/>
              </a:rPr>
              <a:t>artem</a:t>
            </a:r>
            <a:r>
              <a:rPr lang="en-US" altLang="ko-KR" spc="30" dirty="0">
                <a:latin typeface="+mj-lt"/>
                <a:cs typeface="Arial MT"/>
                <a:hlinkClick r:id="rId3"/>
              </a:rPr>
              <a:t> </a:t>
            </a:r>
            <a:r>
              <a:rPr lang="en-US" altLang="ko-KR" spc="-20" dirty="0" err="1">
                <a:latin typeface="+mj-lt"/>
                <a:cs typeface="Arial MT"/>
                <a:hlinkClick r:id="rId3"/>
              </a:rPr>
              <a:t>krylysov</a:t>
            </a:r>
            <a:r>
              <a:rPr lang="en-US" altLang="ko-KR" spc="35" dirty="0">
                <a:latin typeface="+mj-lt"/>
                <a:cs typeface="Arial MT"/>
                <a:hlinkClick r:id="rId3"/>
              </a:rPr>
              <a:t> </a:t>
            </a:r>
            <a:r>
              <a:rPr lang="en-US" altLang="ko-KR" spc="-10" dirty="0">
                <a:latin typeface="+mj-lt"/>
                <a:cs typeface="Arial MT"/>
                <a:hlinkClick r:id="rId3"/>
              </a:rPr>
              <a:t>blog</a:t>
            </a:r>
            <a:endParaRPr lang="ko-KR" altLang="en-US" dirty="0">
              <a:latin typeface="+mj-l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D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330298"/>
            <a:ext cx="650534" cy="650534"/>
            <a:chOff x="0" y="0"/>
            <a:chExt cx="867378" cy="867378"/>
          </a:xfrm>
        </p:grpSpPr>
        <p:sp>
          <p:nvSpPr>
            <p:cNvPr id="3" name="AutoShape 3"/>
            <p:cNvSpPr/>
            <p:nvPr/>
          </p:nvSpPr>
          <p:spPr>
            <a:xfrm>
              <a:off x="0" y="433689"/>
              <a:ext cx="867378" cy="0"/>
            </a:xfrm>
            <a:prstGeom prst="line">
              <a:avLst/>
            </a:prstGeom>
            <a:ln w="139700" cap="flat">
              <a:solidFill>
                <a:srgbClr val="4A60DD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AutoShape 4"/>
            <p:cNvSpPr/>
            <p:nvPr/>
          </p:nvSpPr>
          <p:spPr>
            <a:xfrm flipV="1">
              <a:off x="433689" y="0"/>
              <a:ext cx="0" cy="867378"/>
            </a:xfrm>
            <a:prstGeom prst="line">
              <a:avLst/>
            </a:prstGeom>
            <a:ln w="139700" cap="flat">
              <a:solidFill>
                <a:srgbClr val="4A60DD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" name="AutoShape 5"/>
            <p:cNvSpPr/>
            <p:nvPr/>
          </p:nvSpPr>
          <p:spPr>
            <a:xfrm flipV="1">
              <a:off x="127025" y="127025"/>
              <a:ext cx="613329" cy="613329"/>
            </a:xfrm>
            <a:prstGeom prst="line">
              <a:avLst/>
            </a:prstGeom>
            <a:ln w="139700" cap="flat">
              <a:solidFill>
                <a:srgbClr val="4A60DD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" name="AutoShape 6"/>
            <p:cNvSpPr/>
            <p:nvPr/>
          </p:nvSpPr>
          <p:spPr>
            <a:xfrm flipH="1" flipV="1">
              <a:off x="127025" y="127025"/>
              <a:ext cx="613329" cy="613329"/>
            </a:xfrm>
            <a:prstGeom prst="line">
              <a:avLst/>
            </a:prstGeom>
            <a:ln w="139700" cap="flat">
              <a:solidFill>
                <a:srgbClr val="4A60DD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317138" y="3067724"/>
            <a:ext cx="8069615" cy="644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99"/>
              </a:lnSpc>
            </a:pPr>
            <a:r>
              <a:rPr lang="en-US" sz="3999" b="1" spc="-39" dirty="0">
                <a:solidFill>
                  <a:srgbClr val="424242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Compaction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317138" y="3959522"/>
            <a:ext cx="7522062" cy="270785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299"/>
              </a:lnSpc>
            </a:pPr>
            <a:r>
              <a:rPr lang="en-US" altLang="ko-KR" sz="2499" dirty="0">
                <a:solidFill>
                  <a:srgbClr val="424242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Compaction</a:t>
            </a:r>
            <a:r>
              <a:rPr lang="ko-KR" altLang="en-US" sz="2499" dirty="0">
                <a:solidFill>
                  <a:srgbClr val="424242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은 여러 개의 </a:t>
            </a:r>
            <a:r>
              <a:rPr lang="en-US" altLang="ko-KR" sz="2499" dirty="0">
                <a:solidFill>
                  <a:srgbClr val="424242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SST </a:t>
            </a:r>
            <a:r>
              <a:rPr lang="ko-KR" altLang="en-US" sz="2499" dirty="0">
                <a:solidFill>
                  <a:srgbClr val="424242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파일을 합쳐 하나의 파일로 만드는 과정으로</a:t>
            </a:r>
            <a:r>
              <a:rPr lang="en-US" altLang="ko-KR" sz="2499" dirty="0">
                <a:solidFill>
                  <a:srgbClr val="424242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, </a:t>
            </a:r>
            <a:r>
              <a:rPr lang="ko-KR" altLang="en-US" sz="2499" dirty="0">
                <a:solidFill>
                  <a:srgbClr val="424242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이 과정에서 중복된 키나 삭제된 항목과 같은 불필요한 엔트리들이 제거되어 저장 공간을 줄이고</a:t>
            </a:r>
            <a:r>
              <a:rPr lang="en-US" altLang="ko-KR" sz="2499" dirty="0">
                <a:solidFill>
                  <a:srgbClr val="424242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, </a:t>
            </a:r>
            <a:r>
              <a:rPr lang="ko-KR" altLang="en-US" sz="2499" dirty="0">
                <a:solidFill>
                  <a:srgbClr val="424242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데이터 조회 효율을 높일 수 있다</a:t>
            </a:r>
            <a:r>
              <a:rPr lang="en-US" altLang="ko-KR" sz="2499" dirty="0">
                <a:solidFill>
                  <a:srgbClr val="424242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 </a:t>
            </a:r>
            <a:r>
              <a:rPr lang="ko-KR" altLang="en-US" sz="2499" dirty="0">
                <a:solidFill>
                  <a:srgbClr val="424242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또한 계층 구조를 유지해 검색 성능을 안정적으로 보장한다</a:t>
            </a:r>
            <a:r>
              <a:rPr lang="en-US" altLang="ko-KR" sz="2499" dirty="0">
                <a:solidFill>
                  <a:srgbClr val="424242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.</a:t>
            </a:r>
            <a:endParaRPr lang="en-US" sz="2499" dirty="0">
              <a:solidFill>
                <a:srgbClr val="424242"/>
              </a:solidFill>
              <a:latin typeface="Tlab 돋움 레귤러"/>
              <a:ea typeface="Tlab 돋움 레귤러"/>
              <a:cs typeface="Tlab 돋움 레귤러"/>
              <a:sym typeface="Tlab 돋움 레귤러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982796" y="1257103"/>
            <a:ext cx="5997609" cy="930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6999"/>
              </a:lnSpc>
            </a:pPr>
            <a:r>
              <a:rPr lang="en-US" altLang="ko-KR" sz="6999" b="1" spc="-209" dirty="0" err="1">
                <a:solidFill>
                  <a:srgbClr val="4A60DD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RocksDB</a:t>
            </a:r>
            <a:endParaRPr lang="en-US" altLang="ko-KR" sz="6999" b="1" spc="-209" dirty="0">
              <a:solidFill>
                <a:srgbClr val="4A60DD"/>
              </a:solidFill>
              <a:latin typeface="Tlab 돋움 레귤러 Bold"/>
              <a:ea typeface="Tlab 돋움 레귤러 Bold"/>
              <a:cs typeface="Tlab 돋움 레귤러 Bold"/>
              <a:sym typeface="Tlab 돋움 레귤러 Bold"/>
            </a:endParaRPr>
          </a:p>
        </p:txBody>
      </p:sp>
      <p:pic>
        <p:nvPicPr>
          <p:cNvPr id="11" name="object 6">
            <a:extLst>
              <a:ext uri="{FF2B5EF4-FFF2-40B4-BE49-F238E27FC236}">
                <a16:creationId xmlns:a16="http://schemas.microsoft.com/office/drawing/2014/main" id="{53AF5256-B0FE-929F-ADCA-86EE8C78A47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895478" y="1655565"/>
            <a:ext cx="6379062" cy="795136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167A1BB-0301-1759-E4E3-794F1E3596DA}"/>
              </a:ext>
            </a:extLst>
          </p:cNvPr>
          <p:cNvSpPr txBox="1"/>
          <p:nvPr/>
        </p:nvSpPr>
        <p:spPr>
          <a:xfrm>
            <a:off x="13280200" y="9791700"/>
            <a:ext cx="49932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dirty="0">
                <a:latin typeface="+mj-lt"/>
              </a:rPr>
              <a:t>이미지 출처</a:t>
            </a:r>
            <a:r>
              <a:rPr lang="en-US" altLang="ko-KR" dirty="0">
                <a:latin typeface="+mj-lt"/>
              </a:rPr>
              <a:t> : </a:t>
            </a:r>
            <a:r>
              <a:rPr lang="en-US" altLang="ko-KR" spc="-10" dirty="0">
                <a:latin typeface="+mj-lt"/>
                <a:cs typeface="Arial MT"/>
                <a:hlinkClick r:id="rId3"/>
              </a:rPr>
              <a:t>artem</a:t>
            </a:r>
            <a:r>
              <a:rPr lang="en-US" altLang="ko-KR" spc="30" dirty="0">
                <a:latin typeface="+mj-lt"/>
                <a:cs typeface="Arial MT"/>
                <a:hlinkClick r:id="rId3"/>
              </a:rPr>
              <a:t> </a:t>
            </a:r>
            <a:r>
              <a:rPr lang="en-US" altLang="ko-KR" spc="-20" dirty="0" err="1">
                <a:latin typeface="+mj-lt"/>
                <a:cs typeface="Arial MT"/>
                <a:hlinkClick r:id="rId3"/>
              </a:rPr>
              <a:t>krylysov</a:t>
            </a:r>
            <a:r>
              <a:rPr lang="en-US" altLang="ko-KR" spc="35" dirty="0">
                <a:latin typeface="+mj-lt"/>
                <a:cs typeface="Arial MT"/>
                <a:hlinkClick r:id="rId3"/>
              </a:rPr>
              <a:t> </a:t>
            </a:r>
            <a:r>
              <a:rPr lang="en-US" altLang="ko-KR" spc="-10" dirty="0">
                <a:latin typeface="+mj-lt"/>
                <a:cs typeface="Arial MT"/>
                <a:hlinkClick r:id="rId3"/>
              </a:rPr>
              <a:t>blog</a:t>
            </a:r>
            <a:endParaRPr lang="ko-KR" altLang="en-US" dirty="0">
              <a:latin typeface="+mj-l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D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330298"/>
            <a:ext cx="650534" cy="650534"/>
            <a:chOff x="0" y="0"/>
            <a:chExt cx="867378" cy="867378"/>
          </a:xfrm>
        </p:grpSpPr>
        <p:sp>
          <p:nvSpPr>
            <p:cNvPr id="3" name="AutoShape 3"/>
            <p:cNvSpPr/>
            <p:nvPr/>
          </p:nvSpPr>
          <p:spPr>
            <a:xfrm>
              <a:off x="0" y="433689"/>
              <a:ext cx="867378" cy="0"/>
            </a:xfrm>
            <a:prstGeom prst="line">
              <a:avLst/>
            </a:prstGeom>
            <a:ln w="139700" cap="flat">
              <a:solidFill>
                <a:srgbClr val="4A60DD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AutoShape 4"/>
            <p:cNvSpPr/>
            <p:nvPr/>
          </p:nvSpPr>
          <p:spPr>
            <a:xfrm flipV="1">
              <a:off x="433689" y="0"/>
              <a:ext cx="0" cy="867378"/>
            </a:xfrm>
            <a:prstGeom prst="line">
              <a:avLst/>
            </a:prstGeom>
            <a:ln w="139700" cap="flat">
              <a:solidFill>
                <a:srgbClr val="4A60DD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" name="AutoShape 5"/>
            <p:cNvSpPr/>
            <p:nvPr/>
          </p:nvSpPr>
          <p:spPr>
            <a:xfrm flipV="1">
              <a:off x="127025" y="127025"/>
              <a:ext cx="613329" cy="613329"/>
            </a:xfrm>
            <a:prstGeom prst="line">
              <a:avLst/>
            </a:prstGeom>
            <a:ln w="139700" cap="flat">
              <a:solidFill>
                <a:srgbClr val="4A60DD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" name="AutoShape 6"/>
            <p:cNvSpPr/>
            <p:nvPr/>
          </p:nvSpPr>
          <p:spPr>
            <a:xfrm flipH="1" flipV="1">
              <a:off x="127025" y="127025"/>
              <a:ext cx="613329" cy="613329"/>
            </a:xfrm>
            <a:prstGeom prst="line">
              <a:avLst/>
            </a:prstGeom>
            <a:ln w="139700" cap="flat">
              <a:solidFill>
                <a:srgbClr val="4A60DD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7" name="Freeform 7"/>
          <p:cNvSpPr/>
          <p:nvPr/>
        </p:nvSpPr>
        <p:spPr>
          <a:xfrm>
            <a:off x="4102945" y="6362700"/>
            <a:ext cx="10082109" cy="2401532"/>
          </a:xfrm>
          <a:custGeom>
            <a:avLst/>
            <a:gdLst/>
            <a:ahLst/>
            <a:cxnLst/>
            <a:rect l="l" t="t" r="r" b="b"/>
            <a:pathLst>
              <a:path w="10082109" h="2401532">
                <a:moveTo>
                  <a:pt x="0" y="0"/>
                </a:moveTo>
                <a:lnTo>
                  <a:pt x="10082109" y="0"/>
                </a:lnTo>
                <a:lnTo>
                  <a:pt x="10082109" y="2401532"/>
                </a:lnTo>
                <a:lnTo>
                  <a:pt x="0" y="240153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8" name="TextBox 8"/>
          <p:cNvSpPr txBox="1"/>
          <p:nvPr/>
        </p:nvSpPr>
        <p:spPr>
          <a:xfrm>
            <a:off x="1317138" y="3067724"/>
            <a:ext cx="8069615" cy="644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99"/>
              </a:lnSpc>
            </a:pPr>
            <a:r>
              <a:rPr lang="en-US" sz="3999" b="1" spc="-39" dirty="0" err="1">
                <a:solidFill>
                  <a:srgbClr val="424242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BlobDB</a:t>
            </a:r>
            <a:endParaRPr lang="en-US" sz="3999" b="1" spc="-39" dirty="0">
              <a:solidFill>
                <a:srgbClr val="424242"/>
              </a:solidFill>
              <a:latin typeface="Tlab 돋움 레귤러 Bold"/>
              <a:ea typeface="Tlab 돋움 레귤러 Bold"/>
              <a:cs typeface="Tlab 돋움 레귤러 Bold"/>
              <a:sym typeface="Tlab 돋움 레귤러 Bold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317138" y="3959522"/>
            <a:ext cx="15218262" cy="16049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299"/>
              </a:lnSpc>
            </a:pPr>
            <a:r>
              <a:rPr lang="en-US" altLang="ko-KR" sz="2499" dirty="0" err="1">
                <a:solidFill>
                  <a:srgbClr val="424242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BlobDB</a:t>
            </a:r>
            <a:r>
              <a:rPr lang="ko-KR" altLang="en-US" sz="2499" dirty="0">
                <a:solidFill>
                  <a:srgbClr val="424242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는 </a:t>
            </a:r>
            <a:r>
              <a:rPr lang="en-US" altLang="ko-KR" sz="2499" dirty="0" err="1">
                <a:solidFill>
                  <a:srgbClr val="424242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RocksDB</a:t>
            </a:r>
            <a:r>
              <a:rPr lang="ko-KR" altLang="en-US" sz="2499" dirty="0">
                <a:solidFill>
                  <a:srgbClr val="424242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의 확장 기능으로</a:t>
            </a:r>
            <a:r>
              <a:rPr lang="en-US" altLang="ko-KR" sz="2499" dirty="0">
                <a:solidFill>
                  <a:srgbClr val="424242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, </a:t>
            </a:r>
            <a:r>
              <a:rPr lang="ko-KR" altLang="en-US" sz="2499" dirty="0">
                <a:solidFill>
                  <a:srgbClr val="424242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큰 크기의 </a:t>
            </a:r>
            <a:r>
              <a:rPr lang="en-US" altLang="ko-KR" sz="2499" dirty="0">
                <a:solidFill>
                  <a:srgbClr val="424242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value</a:t>
            </a:r>
            <a:r>
              <a:rPr lang="ko-KR" altLang="en-US" sz="2499" dirty="0">
                <a:solidFill>
                  <a:srgbClr val="424242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를 별도의 </a:t>
            </a:r>
            <a:r>
              <a:rPr lang="en-US" altLang="ko-KR" sz="2499" dirty="0">
                <a:solidFill>
                  <a:srgbClr val="424242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blob </a:t>
            </a:r>
            <a:r>
              <a:rPr lang="ko-KR" altLang="en-US" sz="2499" dirty="0">
                <a:solidFill>
                  <a:srgbClr val="424242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파일에 저장한다</a:t>
            </a:r>
            <a:r>
              <a:rPr lang="en-US" altLang="ko-KR" sz="2499" dirty="0">
                <a:solidFill>
                  <a:srgbClr val="424242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. </a:t>
            </a:r>
            <a:r>
              <a:rPr lang="ko-KR" altLang="en-US" sz="2499" dirty="0">
                <a:solidFill>
                  <a:srgbClr val="424242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이를 통해 </a:t>
            </a:r>
            <a:r>
              <a:rPr lang="en-US" altLang="ko-KR" sz="2499" dirty="0">
                <a:solidFill>
                  <a:srgbClr val="424242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SST </a:t>
            </a:r>
            <a:r>
              <a:rPr lang="ko-KR" altLang="en-US" sz="2499" dirty="0">
                <a:solidFill>
                  <a:srgbClr val="424242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파일에는 </a:t>
            </a:r>
            <a:r>
              <a:rPr lang="en-US" altLang="ko-KR" sz="2499" dirty="0">
                <a:solidFill>
                  <a:srgbClr val="424242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key</a:t>
            </a:r>
            <a:r>
              <a:rPr lang="ko-KR" altLang="en-US" sz="2499" dirty="0">
                <a:solidFill>
                  <a:srgbClr val="424242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와 메타데이터만 남게 되고</a:t>
            </a:r>
            <a:r>
              <a:rPr lang="en-US" altLang="ko-KR" sz="2499" dirty="0">
                <a:solidFill>
                  <a:srgbClr val="424242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, Compaction </a:t>
            </a:r>
            <a:r>
              <a:rPr lang="ko-KR" altLang="en-US" sz="2499" dirty="0">
                <a:solidFill>
                  <a:srgbClr val="424242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과정에서 </a:t>
            </a:r>
            <a:r>
              <a:rPr lang="en-US" altLang="ko-KR" sz="2499" dirty="0">
                <a:solidFill>
                  <a:srgbClr val="424242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value </a:t>
            </a:r>
            <a:r>
              <a:rPr lang="ko-KR" altLang="en-US" sz="2499" dirty="0">
                <a:solidFill>
                  <a:srgbClr val="424242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자체가 이동하지 않아 데이터 이동이 크게 줄어든다</a:t>
            </a:r>
            <a:r>
              <a:rPr lang="en-US" altLang="ko-KR" sz="2499" dirty="0">
                <a:solidFill>
                  <a:srgbClr val="424242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. </a:t>
            </a:r>
            <a:r>
              <a:rPr lang="ko-KR" altLang="en-US" sz="2499" dirty="0">
                <a:solidFill>
                  <a:srgbClr val="424242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이로써 성능과 효율성이 향상된다</a:t>
            </a:r>
            <a:r>
              <a:rPr lang="en-US" altLang="ko-KR" sz="2499" dirty="0">
                <a:solidFill>
                  <a:srgbClr val="424242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.</a:t>
            </a:r>
            <a:endParaRPr lang="en-US" sz="2499" dirty="0">
              <a:solidFill>
                <a:srgbClr val="424242"/>
              </a:solidFill>
              <a:latin typeface="Tlab 돋움 레귤러"/>
              <a:ea typeface="Tlab 돋움 레귤러"/>
              <a:cs typeface="Tlab 돋움 레귤러"/>
              <a:sym typeface="Tlab 돋움 레귤러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982796" y="1257103"/>
            <a:ext cx="5997609" cy="930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sz="6999" b="1" spc="-209" dirty="0" err="1">
                <a:solidFill>
                  <a:srgbClr val="4A60DD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RocksDB</a:t>
            </a:r>
            <a:endParaRPr lang="en-US" sz="6999" b="1" spc="-209" dirty="0">
              <a:solidFill>
                <a:srgbClr val="4A60DD"/>
              </a:solidFill>
              <a:latin typeface="Tlab 돋움 레귤러 Bold"/>
              <a:ea typeface="Tlab 돋움 레귤러 Bold"/>
              <a:cs typeface="Tlab 돋움 레귤러 Bold"/>
              <a:sym typeface="Tlab 돋움 레귤러 Bold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D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982796" y="1257103"/>
            <a:ext cx="14586701" cy="930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sz="6999" b="1" spc="-209" dirty="0" err="1">
                <a:solidFill>
                  <a:srgbClr val="4A60DD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ZenFS</a:t>
            </a:r>
            <a:endParaRPr lang="en-US" sz="6999" b="1" spc="-209" dirty="0">
              <a:solidFill>
                <a:srgbClr val="4A60DD"/>
              </a:solidFill>
              <a:latin typeface="Tlab 돋움 레귤러 Bold"/>
              <a:ea typeface="Tlab 돋움 레귤러 Bold"/>
              <a:cs typeface="Tlab 돋움 레귤러 Bold"/>
              <a:sym typeface="Tlab 돋움 레귤러 Bold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1317138" y="3578500"/>
            <a:ext cx="10112862" cy="8740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altLang="ko-KR" sz="2500" spc="-25" dirty="0" err="1">
                <a:solidFill>
                  <a:srgbClr val="424242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ZenFS</a:t>
            </a:r>
            <a:r>
              <a:rPr lang="ko-KR" altLang="en-US" sz="2500" spc="-25" dirty="0">
                <a:solidFill>
                  <a:srgbClr val="424242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는 </a:t>
            </a:r>
            <a:r>
              <a:rPr lang="en-US" altLang="ko-KR" sz="2500" spc="-25" dirty="0">
                <a:solidFill>
                  <a:srgbClr val="424242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Western Digital</a:t>
            </a:r>
            <a:r>
              <a:rPr lang="ko-KR" altLang="en-US" sz="2500" spc="-25" dirty="0">
                <a:solidFill>
                  <a:srgbClr val="424242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에서 만든 </a:t>
            </a:r>
            <a:r>
              <a:rPr lang="en-US" altLang="ko-KR" sz="2500" spc="-25" dirty="0" err="1">
                <a:solidFill>
                  <a:srgbClr val="424242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RocksDB</a:t>
            </a:r>
            <a:r>
              <a:rPr lang="en-US" altLang="ko-KR" sz="2500" spc="-25" dirty="0">
                <a:solidFill>
                  <a:srgbClr val="424242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 </a:t>
            </a:r>
            <a:r>
              <a:rPr lang="ko-KR" altLang="en-US" sz="2500" spc="-25" dirty="0">
                <a:solidFill>
                  <a:srgbClr val="424242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플러그인으로</a:t>
            </a:r>
            <a:r>
              <a:rPr lang="en-US" altLang="ko-KR" sz="2500" spc="-25" dirty="0">
                <a:solidFill>
                  <a:srgbClr val="424242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, ZNS SSD</a:t>
            </a:r>
            <a:r>
              <a:rPr lang="ko-KR" altLang="en-US" sz="2500" spc="-25" dirty="0">
                <a:solidFill>
                  <a:srgbClr val="424242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를 효율적으로 사용하기 위해 설계한다</a:t>
            </a:r>
            <a:r>
              <a:rPr lang="en-US" altLang="ko-KR" sz="2500" spc="-25" dirty="0">
                <a:solidFill>
                  <a:srgbClr val="424242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. </a:t>
            </a:r>
            <a:r>
              <a:rPr lang="en-US" altLang="ko-KR" sz="2500" spc="-25" dirty="0" err="1">
                <a:solidFill>
                  <a:srgbClr val="424242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RocksDB</a:t>
            </a:r>
            <a:r>
              <a:rPr lang="ko-KR" altLang="en-US" sz="2500" spc="-25" dirty="0">
                <a:solidFill>
                  <a:srgbClr val="424242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와 쉽게 연동한다</a:t>
            </a:r>
            <a:r>
              <a:rPr lang="en-US" altLang="ko-KR" sz="2500" spc="-25" dirty="0">
                <a:solidFill>
                  <a:srgbClr val="424242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.</a:t>
            </a:r>
            <a:endParaRPr lang="en-US" sz="2500" spc="-25" dirty="0">
              <a:solidFill>
                <a:srgbClr val="424242"/>
              </a:solidFill>
              <a:latin typeface="Tlab 돋움 레귤러"/>
              <a:ea typeface="Tlab 돋움 레귤러"/>
              <a:cs typeface="Tlab 돋움 레귤러"/>
              <a:sym typeface="Tlab 돋움 레귤러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317138" y="5721243"/>
            <a:ext cx="10112862" cy="8740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altLang="ko-KR" sz="2500" spc="-25" dirty="0" err="1">
                <a:solidFill>
                  <a:srgbClr val="424242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ZenFS</a:t>
            </a:r>
            <a:r>
              <a:rPr lang="ko-KR" altLang="en-US" sz="2500" spc="-25" dirty="0">
                <a:solidFill>
                  <a:srgbClr val="424242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는 </a:t>
            </a:r>
            <a:r>
              <a:rPr lang="en-US" altLang="ko-KR" sz="2500" spc="-25" dirty="0">
                <a:solidFill>
                  <a:srgbClr val="424242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ZNS SSD</a:t>
            </a:r>
            <a:r>
              <a:rPr lang="ko-KR" altLang="en-US" sz="2500" spc="-25" dirty="0">
                <a:solidFill>
                  <a:srgbClr val="424242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를 지원하며</a:t>
            </a:r>
            <a:r>
              <a:rPr lang="en-US" altLang="ko-KR" sz="2500" spc="-25" dirty="0">
                <a:solidFill>
                  <a:srgbClr val="424242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, </a:t>
            </a:r>
            <a:r>
              <a:rPr lang="ko-KR" altLang="en-US" sz="2500" spc="-25" dirty="0">
                <a:solidFill>
                  <a:srgbClr val="424242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데이터 배치를 단순하고 효율적으로 관리한다</a:t>
            </a:r>
            <a:r>
              <a:rPr lang="en-US" altLang="ko-KR" sz="2500" spc="-25" dirty="0">
                <a:solidFill>
                  <a:srgbClr val="424242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. </a:t>
            </a:r>
            <a:r>
              <a:rPr lang="ko-KR" altLang="en-US" sz="2500" spc="-25" dirty="0">
                <a:solidFill>
                  <a:srgbClr val="424242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이를 통해 성능과 수명을 높인다</a:t>
            </a:r>
            <a:r>
              <a:rPr lang="en-US" altLang="ko-KR" sz="2500" spc="-25" dirty="0">
                <a:solidFill>
                  <a:srgbClr val="424242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.</a:t>
            </a:r>
            <a:endParaRPr lang="en-US" sz="2500" spc="-25" dirty="0">
              <a:solidFill>
                <a:srgbClr val="424242"/>
              </a:solidFill>
              <a:latin typeface="Tlab 돋움 레귤러"/>
              <a:ea typeface="Tlab 돋움 레귤러"/>
              <a:cs typeface="Tlab 돋움 레귤러"/>
              <a:sym typeface="Tlab 돋움 레귤러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317138" y="7863986"/>
            <a:ext cx="9960462" cy="8740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altLang="ko-KR" sz="2500" spc="-25" dirty="0" err="1">
                <a:solidFill>
                  <a:srgbClr val="424242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ZenFS</a:t>
            </a:r>
            <a:r>
              <a:rPr lang="ko-KR" altLang="en-US" sz="2500" spc="-25" dirty="0">
                <a:solidFill>
                  <a:srgbClr val="424242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는 </a:t>
            </a:r>
            <a:r>
              <a:rPr lang="en-US" altLang="ko-KR" sz="2500" spc="-25" dirty="0">
                <a:solidFill>
                  <a:srgbClr val="424242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lifetime hint</a:t>
            </a:r>
            <a:r>
              <a:rPr lang="ko-KR" altLang="en-US" sz="2500" spc="-25" dirty="0">
                <a:solidFill>
                  <a:srgbClr val="424242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를 기반으로 </a:t>
            </a:r>
            <a:r>
              <a:rPr lang="en-US" altLang="ko-KR" sz="2500" spc="-25" dirty="0">
                <a:solidFill>
                  <a:srgbClr val="424242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zone</a:t>
            </a:r>
            <a:r>
              <a:rPr lang="ko-KR" altLang="en-US" sz="2500" spc="-25" dirty="0">
                <a:solidFill>
                  <a:srgbClr val="424242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을 할당한다</a:t>
            </a:r>
            <a:r>
              <a:rPr lang="en-US" altLang="ko-KR" sz="2500" spc="-25" dirty="0">
                <a:solidFill>
                  <a:srgbClr val="424242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. </a:t>
            </a:r>
            <a:r>
              <a:rPr lang="ko-KR" altLang="en-US" sz="2500" spc="-25" dirty="0">
                <a:solidFill>
                  <a:srgbClr val="424242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데이터 특성에 맞는 쓰기를 보장해 불필요한 쓰기를 줄인다</a:t>
            </a:r>
            <a:r>
              <a:rPr lang="en-US" altLang="ko-KR" sz="2500" spc="-25" dirty="0">
                <a:solidFill>
                  <a:srgbClr val="424242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.</a:t>
            </a:r>
            <a:endParaRPr lang="en-US" sz="2500" spc="-25" dirty="0">
              <a:solidFill>
                <a:srgbClr val="424242"/>
              </a:solidFill>
              <a:latin typeface="Tlab 돋움 레귤러"/>
              <a:ea typeface="Tlab 돋움 레귤러"/>
              <a:cs typeface="Tlab 돋움 레귤러"/>
              <a:sym typeface="Tlab 돋움 레귤러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317138" y="2912900"/>
            <a:ext cx="3868586" cy="4753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92"/>
              </a:lnSpc>
            </a:pPr>
            <a:r>
              <a:rPr lang="en-US" sz="2800" b="1" spc="-28" dirty="0" err="1">
                <a:solidFill>
                  <a:srgbClr val="4A60DD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ZenFS</a:t>
            </a:r>
            <a:r>
              <a:rPr lang="en-US" sz="2800" b="1" spc="-28" dirty="0">
                <a:solidFill>
                  <a:srgbClr val="4A60DD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 </a:t>
            </a:r>
            <a:r>
              <a:rPr lang="ko-KR" altLang="en-US" sz="2800" b="1" spc="-28" dirty="0">
                <a:solidFill>
                  <a:srgbClr val="4A60DD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개요</a:t>
            </a:r>
            <a:endParaRPr lang="en-US" sz="2800" b="1" spc="-28" dirty="0">
              <a:solidFill>
                <a:srgbClr val="4A60DD"/>
              </a:solidFill>
              <a:latin typeface="Tlab 돋움 레귤러 Bold"/>
              <a:ea typeface="Tlab 돋움 레귤러 Bold"/>
              <a:cs typeface="Tlab 돋움 레귤러 Bold"/>
              <a:sym typeface="Tlab 돋움 레귤러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317138" y="5065034"/>
            <a:ext cx="5448070" cy="4753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92"/>
              </a:lnSpc>
            </a:pPr>
            <a:r>
              <a:rPr lang="en-US" sz="2800" b="1" spc="-28" dirty="0">
                <a:solidFill>
                  <a:srgbClr val="4A60DD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ZNS </a:t>
            </a:r>
            <a:r>
              <a:rPr lang="ko-KR" altLang="en-US" sz="2800" b="1" spc="-28" dirty="0">
                <a:solidFill>
                  <a:srgbClr val="4A60DD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지원과 장점</a:t>
            </a:r>
            <a:endParaRPr lang="en-US" sz="2800" b="1" spc="-28" dirty="0">
              <a:solidFill>
                <a:srgbClr val="4A60DD"/>
              </a:solidFill>
              <a:latin typeface="Tlab 돋움 레귤러 Bold"/>
              <a:ea typeface="Tlab 돋움 레귤러 Bold"/>
              <a:cs typeface="Tlab 돋움 레귤러 Bold"/>
              <a:sym typeface="Tlab 돋움 레귤러 Bold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317138" y="7193426"/>
            <a:ext cx="5448070" cy="4753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92"/>
              </a:lnSpc>
            </a:pPr>
            <a:r>
              <a:rPr lang="en-US" sz="2800" b="1" spc="-28" dirty="0">
                <a:solidFill>
                  <a:srgbClr val="4A60DD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Lifetime Hint </a:t>
            </a:r>
            <a:r>
              <a:rPr lang="ko-KR" altLang="en-US" sz="2800" b="1" spc="-28" dirty="0">
                <a:solidFill>
                  <a:srgbClr val="4A60DD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활용</a:t>
            </a:r>
            <a:endParaRPr lang="en-US" sz="2800" b="1" spc="-28" dirty="0">
              <a:solidFill>
                <a:srgbClr val="4A60DD"/>
              </a:solidFill>
              <a:latin typeface="Tlab 돋움 레귤러 Bold"/>
              <a:ea typeface="Tlab 돋움 레귤러 Bold"/>
              <a:cs typeface="Tlab 돋움 레귤러 Bold"/>
              <a:sym typeface="Tlab 돋움 레귤러 Bold"/>
            </a:endParaRPr>
          </a:p>
        </p:txBody>
      </p:sp>
      <p:grpSp>
        <p:nvGrpSpPr>
          <p:cNvPr id="9" name="Group 9"/>
          <p:cNvGrpSpPr/>
          <p:nvPr/>
        </p:nvGrpSpPr>
        <p:grpSpPr>
          <a:xfrm>
            <a:off x="1028700" y="1330298"/>
            <a:ext cx="650534" cy="650534"/>
            <a:chOff x="0" y="0"/>
            <a:chExt cx="867378" cy="867378"/>
          </a:xfrm>
        </p:grpSpPr>
        <p:sp>
          <p:nvSpPr>
            <p:cNvPr id="10" name="AutoShape 10"/>
            <p:cNvSpPr/>
            <p:nvPr/>
          </p:nvSpPr>
          <p:spPr>
            <a:xfrm>
              <a:off x="0" y="433689"/>
              <a:ext cx="867378" cy="0"/>
            </a:xfrm>
            <a:prstGeom prst="line">
              <a:avLst/>
            </a:prstGeom>
            <a:ln w="139700" cap="flat">
              <a:solidFill>
                <a:srgbClr val="4A60DD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1" name="AutoShape 11"/>
            <p:cNvSpPr/>
            <p:nvPr/>
          </p:nvSpPr>
          <p:spPr>
            <a:xfrm flipV="1">
              <a:off x="433689" y="0"/>
              <a:ext cx="0" cy="867378"/>
            </a:xfrm>
            <a:prstGeom prst="line">
              <a:avLst/>
            </a:prstGeom>
            <a:ln w="139700" cap="flat">
              <a:solidFill>
                <a:srgbClr val="4A60DD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2" name="AutoShape 12"/>
            <p:cNvSpPr/>
            <p:nvPr/>
          </p:nvSpPr>
          <p:spPr>
            <a:xfrm flipV="1">
              <a:off x="127025" y="127025"/>
              <a:ext cx="613329" cy="613329"/>
            </a:xfrm>
            <a:prstGeom prst="line">
              <a:avLst/>
            </a:prstGeom>
            <a:ln w="139700" cap="flat">
              <a:solidFill>
                <a:srgbClr val="4A60DD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3" name="AutoShape 13"/>
            <p:cNvSpPr/>
            <p:nvPr/>
          </p:nvSpPr>
          <p:spPr>
            <a:xfrm flipH="1" flipV="1">
              <a:off x="127025" y="127025"/>
              <a:ext cx="613329" cy="613329"/>
            </a:xfrm>
            <a:prstGeom prst="line">
              <a:avLst/>
            </a:prstGeom>
            <a:ln w="139700" cap="flat">
              <a:solidFill>
                <a:srgbClr val="4A60DD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ko-KR" altLang="en-US"/>
            </a:p>
          </p:txBody>
        </p:sp>
      </p:grpSp>
      <p:pic>
        <p:nvPicPr>
          <p:cNvPr id="1026" name="Picture 2" descr="zenfs stack">
            <a:extLst>
              <a:ext uri="{FF2B5EF4-FFF2-40B4-BE49-F238E27FC236}">
                <a16:creationId xmlns:a16="http://schemas.microsoft.com/office/drawing/2014/main" id="{874C3E81-8777-F5ED-2B56-4F31B8E6C7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79091" y="2624339"/>
            <a:ext cx="5757631" cy="65123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D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330298"/>
            <a:ext cx="650534" cy="650534"/>
            <a:chOff x="0" y="0"/>
            <a:chExt cx="867378" cy="867378"/>
          </a:xfrm>
        </p:grpSpPr>
        <p:sp>
          <p:nvSpPr>
            <p:cNvPr id="3" name="AutoShape 3"/>
            <p:cNvSpPr/>
            <p:nvPr/>
          </p:nvSpPr>
          <p:spPr>
            <a:xfrm>
              <a:off x="0" y="433689"/>
              <a:ext cx="867378" cy="0"/>
            </a:xfrm>
            <a:prstGeom prst="line">
              <a:avLst/>
            </a:prstGeom>
            <a:ln w="139700" cap="flat">
              <a:solidFill>
                <a:srgbClr val="4A60DD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AutoShape 4"/>
            <p:cNvSpPr/>
            <p:nvPr/>
          </p:nvSpPr>
          <p:spPr>
            <a:xfrm flipV="1">
              <a:off x="433689" y="0"/>
              <a:ext cx="0" cy="867378"/>
            </a:xfrm>
            <a:prstGeom prst="line">
              <a:avLst/>
            </a:prstGeom>
            <a:ln w="139700" cap="flat">
              <a:solidFill>
                <a:srgbClr val="4A60DD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" name="AutoShape 5"/>
            <p:cNvSpPr/>
            <p:nvPr/>
          </p:nvSpPr>
          <p:spPr>
            <a:xfrm flipV="1">
              <a:off x="127025" y="127025"/>
              <a:ext cx="613329" cy="613329"/>
            </a:xfrm>
            <a:prstGeom prst="line">
              <a:avLst/>
            </a:prstGeom>
            <a:ln w="139700" cap="flat">
              <a:solidFill>
                <a:srgbClr val="4A60DD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" name="AutoShape 6"/>
            <p:cNvSpPr/>
            <p:nvPr/>
          </p:nvSpPr>
          <p:spPr>
            <a:xfrm flipH="1" flipV="1">
              <a:off x="127025" y="127025"/>
              <a:ext cx="613329" cy="613329"/>
            </a:xfrm>
            <a:prstGeom prst="line">
              <a:avLst/>
            </a:prstGeom>
            <a:ln w="139700" cap="flat">
              <a:solidFill>
                <a:srgbClr val="4A60DD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982796" y="1257103"/>
            <a:ext cx="14586701" cy="930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99"/>
              </a:lnSpc>
            </a:pPr>
            <a:r>
              <a:rPr lang="ko-KR" altLang="en-US" sz="6999" b="1" spc="-209" dirty="0">
                <a:solidFill>
                  <a:srgbClr val="4A60DD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연구</a:t>
            </a:r>
            <a:r>
              <a:rPr lang="en-US" sz="6999" b="1" spc="-209" dirty="0">
                <a:solidFill>
                  <a:srgbClr val="4A60DD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 </a:t>
            </a:r>
            <a:r>
              <a:rPr lang="ko-KR" altLang="en-US" sz="6999" b="1" spc="-209" dirty="0">
                <a:solidFill>
                  <a:srgbClr val="4A60DD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동기</a:t>
            </a:r>
            <a:endParaRPr lang="en-US" sz="6999" b="1" spc="-209" dirty="0">
              <a:solidFill>
                <a:srgbClr val="4A60DD"/>
              </a:solidFill>
              <a:latin typeface="Tlab 돋움 레귤러 Bold"/>
              <a:ea typeface="Tlab 돋움 레귤러 Bold"/>
              <a:cs typeface="Tlab 돋움 레귤러 Bold"/>
              <a:sym typeface="Tlab 돋움 레귤러 Bold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583966" y="7829342"/>
            <a:ext cx="6991253" cy="4251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altLang="ko-KR" sz="2500" spc="-25" dirty="0">
                <a:solidFill>
                  <a:srgbClr val="424242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200s </a:t>
            </a:r>
            <a:r>
              <a:rPr lang="ko-KR" altLang="en-US" sz="2500" spc="-25" dirty="0">
                <a:solidFill>
                  <a:srgbClr val="424242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부근부터 반복적인 </a:t>
            </a:r>
            <a:r>
              <a:rPr lang="en-US" altLang="ko-KR" sz="2500" spc="-25" dirty="0">
                <a:solidFill>
                  <a:srgbClr val="424242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failure </a:t>
            </a:r>
            <a:r>
              <a:rPr lang="ko-KR" altLang="en-US" sz="2500" spc="-25" dirty="0">
                <a:solidFill>
                  <a:srgbClr val="424242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발생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583966" y="7158782"/>
            <a:ext cx="5448070" cy="4753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92"/>
              </a:lnSpc>
            </a:pPr>
            <a:r>
              <a:rPr lang="ko-KR" altLang="en-US" sz="2800" b="1" spc="-28" dirty="0">
                <a:solidFill>
                  <a:srgbClr val="4A60DD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반복되는 </a:t>
            </a:r>
            <a:r>
              <a:rPr lang="en-US" altLang="ko-KR" sz="2800" b="1" spc="-28" dirty="0">
                <a:solidFill>
                  <a:srgbClr val="4A60DD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Compaction failure</a:t>
            </a:r>
            <a:endParaRPr lang="en-US" sz="2800" b="1" spc="-28" dirty="0">
              <a:solidFill>
                <a:srgbClr val="4A60DD"/>
              </a:solidFill>
              <a:latin typeface="Tlab 돋움 레귤러 Bold"/>
              <a:ea typeface="Tlab 돋움 레귤러 Bold"/>
              <a:cs typeface="Tlab 돋움 레귤러 Bold"/>
              <a:sym typeface="Tlab 돋움 레귤러 Bold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9942782" y="7829342"/>
            <a:ext cx="6991253" cy="8740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altLang="ko-KR" sz="2500" spc="-25" dirty="0">
                <a:solidFill>
                  <a:srgbClr val="424242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72% </a:t>
            </a:r>
            <a:r>
              <a:rPr lang="ko-KR" altLang="en-US" sz="2500" spc="-25" dirty="0">
                <a:solidFill>
                  <a:srgbClr val="424242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정도의 </a:t>
            </a:r>
            <a:r>
              <a:rPr lang="en-US" sz="2500" spc="-25" dirty="0">
                <a:solidFill>
                  <a:srgbClr val="424242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space utilization</a:t>
            </a:r>
          </a:p>
          <a:p>
            <a:pPr algn="l">
              <a:lnSpc>
                <a:spcPts val="3500"/>
              </a:lnSpc>
            </a:pPr>
            <a:r>
              <a:rPr lang="en-US" sz="2500" spc="-25" dirty="0">
                <a:solidFill>
                  <a:srgbClr val="424242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garbage space </a:t>
            </a:r>
            <a:r>
              <a:rPr lang="ko-KR" altLang="en-US" sz="2500" spc="-25" dirty="0">
                <a:solidFill>
                  <a:srgbClr val="424242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재활용 한계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942782" y="7158782"/>
            <a:ext cx="5448070" cy="4753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92"/>
              </a:lnSpc>
            </a:pPr>
            <a:r>
              <a:rPr lang="ko-KR" altLang="en-US" sz="2800" b="1" spc="-28" dirty="0">
                <a:solidFill>
                  <a:srgbClr val="4A60DD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낮은 공간 효율</a:t>
            </a:r>
            <a:endParaRPr lang="en-US" sz="2800" b="1" spc="-28" dirty="0">
              <a:solidFill>
                <a:srgbClr val="4A60DD"/>
              </a:solidFill>
              <a:latin typeface="Tlab 돋움 레귤러 Bold"/>
              <a:ea typeface="Tlab 돋움 레귤러 Bold"/>
              <a:cs typeface="Tlab 돋움 레귤러 Bold"/>
              <a:sym typeface="Tlab 돋움 레귤러 Bold"/>
            </a:endParaRPr>
          </a:p>
        </p:txBody>
      </p:sp>
      <p:pic>
        <p:nvPicPr>
          <p:cNvPr id="39" name="그림 38">
            <a:extLst>
              <a:ext uri="{FF2B5EF4-FFF2-40B4-BE49-F238E27FC236}">
                <a16:creationId xmlns:a16="http://schemas.microsoft.com/office/drawing/2014/main" id="{1277741E-64FB-1AED-B9C8-12AEB6D7B1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00" y="2412730"/>
            <a:ext cx="5194006" cy="4218886"/>
          </a:xfrm>
          <a:prstGeom prst="rect">
            <a:avLst/>
          </a:prstGeom>
        </p:spPr>
      </p:pic>
      <p:pic>
        <p:nvPicPr>
          <p:cNvPr id="245" name="그림 244">
            <a:extLst>
              <a:ext uri="{FF2B5EF4-FFF2-40B4-BE49-F238E27FC236}">
                <a16:creationId xmlns:a16="http://schemas.microsoft.com/office/drawing/2014/main" id="{AE878A01-1773-FAC9-789F-CDE132A735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2187378"/>
            <a:ext cx="5867899" cy="472567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D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330298"/>
            <a:ext cx="650534" cy="650534"/>
            <a:chOff x="0" y="0"/>
            <a:chExt cx="867378" cy="867378"/>
          </a:xfrm>
        </p:grpSpPr>
        <p:sp>
          <p:nvSpPr>
            <p:cNvPr id="3" name="AutoShape 3"/>
            <p:cNvSpPr/>
            <p:nvPr/>
          </p:nvSpPr>
          <p:spPr>
            <a:xfrm>
              <a:off x="0" y="433689"/>
              <a:ext cx="867378" cy="0"/>
            </a:xfrm>
            <a:prstGeom prst="line">
              <a:avLst/>
            </a:prstGeom>
            <a:ln w="139700" cap="flat">
              <a:solidFill>
                <a:srgbClr val="4A60DD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AutoShape 4"/>
            <p:cNvSpPr/>
            <p:nvPr/>
          </p:nvSpPr>
          <p:spPr>
            <a:xfrm flipV="1">
              <a:off x="433689" y="0"/>
              <a:ext cx="0" cy="867378"/>
            </a:xfrm>
            <a:prstGeom prst="line">
              <a:avLst/>
            </a:prstGeom>
            <a:ln w="139700" cap="flat">
              <a:solidFill>
                <a:srgbClr val="4A60DD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" name="AutoShape 5"/>
            <p:cNvSpPr/>
            <p:nvPr/>
          </p:nvSpPr>
          <p:spPr>
            <a:xfrm flipV="1">
              <a:off x="127025" y="127025"/>
              <a:ext cx="613329" cy="613329"/>
            </a:xfrm>
            <a:prstGeom prst="line">
              <a:avLst/>
            </a:prstGeom>
            <a:ln w="139700" cap="flat">
              <a:solidFill>
                <a:srgbClr val="4A60DD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" name="AutoShape 6"/>
            <p:cNvSpPr/>
            <p:nvPr/>
          </p:nvSpPr>
          <p:spPr>
            <a:xfrm flipH="1" flipV="1">
              <a:off x="127025" y="127025"/>
              <a:ext cx="613329" cy="613329"/>
            </a:xfrm>
            <a:prstGeom prst="line">
              <a:avLst/>
            </a:prstGeom>
            <a:ln w="139700" cap="flat">
              <a:solidFill>
                <a:srgbClr val="4A60DD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8545772" y="3738931"/>
            <a:ext cx="8069615" cy="644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99"/>
              </a:lnSpc>
            </a:pPr>
            <a:r>
              <a:rPr lang="en-US" sz="3999" b="1" spc="-39" dirty="0">
                <a:solidFill>
                  <a:srgbClr val="4A60DD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SIA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339839" y="4547825"/>
            <a:ext cx="8919461" cy="23006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8" lvl="1" indent="-269874">
              <a:lnSpc>
                <a:spcPts val="4574"/>
              </a:lnSpc>
              <a:buFont typeface="Arial"/>
              <a:buChar char="•"/>
            </a:pPr>
            <a:r>
              <a:rPr lang="en-US" sz="2499" dirty="0" err="1">
                <a:solidFill>
                  <a:srgbClr val="424242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sst</a:t>
            </a:r>
            <a:r>
              <a:rPr lang="en-US" sz="2499" dirty="0">
                <a:solidFill>
                  <a:srgbClr val="424242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 file</a:t>
            </a:r>
            <a:r>
              <a:rPr lang="ko-KR" altLang="en-US" sz="2499" dirty="0">
                <a:solidFill>
                  <a:srgbClr val="424242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은 별도의 </a:t>
            </a:r>
            <a:r>
              <a:rPr lang="en-US" altLang="ko-KR" sz="2499" dirty="0">
                <a:solidFill>
                  <a:srgbClr val="424242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zone</a:t>
            </a:r>
            <a:r>
              <a:rPr lang="ko-KR" altLang="en-US" sz="2499" dirty="0">
                <a:solidFill>
                  <a:srgbClr val="424242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에 분리하여 할당</a:t>
            </a:r>
            <a:r>
              <a:rPr lang="en-US" altLang="ko-KR" sz="2499" dirty="0">
                <a:solidFill>
                  <a:srgbClr val="424242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.</a:t>
            </a:r>
          </a:p>
          <a:p>
            <a:pPr marL="539748" lvl="1" indent="-269874">
              <a:lnSpc>
                <a:spcPts val="4574"/>
              </a:lnSpc>
              <a:buFont typeface="Arial"/>
              <a:buChar char="•"/>
            </a:pPr>
            <a:r>
              <a:rPr lang="en-US" altLang="ko-KR" sz="2499" dirty="0" err="1">
                <a:solidFill>
                  <a:srgbClr val="424242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Lifetimehint</a:t>
            </a:r>
            <a:r>
              <a:rPr lang="ko-KR" altLang="en-US" sz="2499" dirty="0">
                <a:solidFill>
                  <a:srgbClr val="424242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는 무시하고 같은 </a:t>
            </a:r>
            <a:r>
              <a:rPr lang="en-US" altLang="ko-KR" sz="2499" dirty="0">
                <a:solidFill>
                  <a:srgbClr val="424242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zone</a:t>
            </a:r>
            <a:r>
              <a:rPr lang="ko-KR" altLang="en-US" sz="2499" dirty="0">
                <a:solidFill>
                  <a:srgbClr val="424242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에 할당</a:t>
            </a:r>
            <a:r>
              <a:rPr lang="en-US" altLang="ko-KR" sz="2499" dirty="0">
                <a:solidFill>
                  <a:srgbClr val="424242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.</a:t>
            </a:r>
          </a:p>
          <a:p>
            <a:pPr marL="269874" lvl="1">
              <a:lnSpc>
                <a:spcPts val="4574"/>
              </a:lnSpc>
            </a:pPr>
            <a:r>
              <a:rPr lang="en-US" altLang="ko-KR" sz="2499" dirty="0">
                <a:solidFill>
                  <a:srgbClr val="424242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-&gt; Empty zone </a:t>
            </a:r>
            <a:r>
              <a:rPr lang="ko-KR" altLang="en-US" sz="2499" dirty="0">
                <a:solidFill>
                  <a:srgbClr val="424242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사용량 감소</a:t>
            </a:r>
            <a:endParaRPr lang="en-US" altLang="ko-KR" sz="2499" dirty="0">
              <a:solidFill>
                <a:srgbClr val="424242"/>
              </a:solidFill>
              <a:latin typeface="Tlab 돋움 레귤러"/>
              <a:ea typeface="Tlab 돋움 레귤러"/>
              <a:cs typeface="Tlab 돋움 레귤러"/>
              <a:sym typeface="Tlab 돋움 레귤러"/>
            </a:endParaRPr>
          </a:p>
          <a:p>
            <a:pPr marL="539748" lvl="1" indent="-269874" algn="l">
              <a:lnSpc>
                <a:spcPts val="4574"/>
              </a:lnSpc>
              <a:buFont typeface="Arial"/>
              <a:buChar char="•"/>
            </a:pPr>
            <a:endParaRPr lang="en-US" sz="2499" dirty="0">
              <a:solidFill>
                <a:srgbClr val="424242"/>
              </a:solidFill>
              <a:latin typeface="Tlab 돋움 레귤러"/>
              <a:ea typeface="Tlab 돋움 레귤러"/>
              <a:cs typeface="Tlab 돋움 레귤러"/>
              <a:sym typeface="Tlab 돋움 레귤러"/>
            </a:endParaRPr>
          </a:p>
        </p:txBody>
      </p:sp>
      <p:sp>
        <p:nvSpPr>
          <p:cNvPr id="12" name="Freeform 12"/>
          <p:cNvSpPr/>
          <p:nvPr/>
        </p:nvSpPr>
        <p:spPr>
          <a:xfrm rot="5400000">
            <a:off x="4444777" y="6269477"/>
            <a:ext cx="409578" cy="612332"/>
          </a:xfrm>
          <a:custGeom>
            <a:avLst/>
            <a:gdLst/>
            <a:ahLst/>
            <a:cxnLst/>
            <a:rect l="l" t="t" r="r" b="b"/>
            <a:pathLst>
              <a:path w="409578" h="612332">
                <a:moveTo>
                  <a:pt x="0" y="0"/>
                </a:moveTo>
                <a:lnTo>
                  <a:pt x="409578" y="0"/>
                </a:lnTo>
                <a:lnTo>
                  <a:pt x="409578" y="612332"/>
                </a:lnTo>
                <a:lnTo>
                  <a:pt x="0" y="6123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3" name="Freeform 13"/>
          <p:cNvSpPr/>
          <p:nvPr/>
        </p:nvSpPr>
        <p:spPr>
          <a:xfrm rot="5400000">
            <a:off x="4421917" y="5937894"/>
            <a:ext cx="409578" cy="612332"/>
          </a:xfrm>
          <a:custGeom>
            <a:avLst/>
            <a:gdLst/>
            <a:ahLst/>
            <a:cxnLst/>
            <a:rect l="l" t="t" r="r" b="b"/>
            <a:pathLst>
              <a:path w="409578" h="612332">
                <a:moveTo>
                  <a:pt x="0" y="0"/>
                </a:moveTo>
                <a:lnTo>
                  <a:pt x="409578" y="0"/>
                </a:lnTo>
                <a:lnTo>
                  <a:pt x="409578" y="612333"/>
                </a:lnTo>
                <a:lnTo>
                  <a:pt x="0" y="61233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4" name="Freeform 14"/>
          <p:cNvSpPr/>
          <p:nvPr/>
        </p:nvSpPr>
        <p:spPr>
          <a:xfrm rot="5400000">
            <a:off x="4444777" y="5606311"/>
            <a:ext cx="409578" cy="612332"/>
          </a:xfrm>
          <a:custGeom>
            <a:avLst/>
            <a:gdLst/>
            <a:ahLst/>
            <a:cxnLst/>
            <a:rect l="l" t="t" r="r" b="b"/>
            <a:pathLst>
              <a:path w="409578" h="612332">
                <a:moveTo>
                  <a:pt x="0" y="0"/>
                </a:moveTo>
                <a:lnTo>
                  <a:pt x="409578" y="0"/>
                </a:lnTo>
                <a:lnTo>
                  <a:pt x="409578" y="612332"/>
                </a:lnTo>
                <a:lnTo>
                  <a:pt x="0" y="61233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pic>
        <p:nvPicPr>
          <p:cNvPr id="15" name="object 6">
            <a:extLst>
              <a:ext uri="{FF2B5EF4-FFF2-40B4-BE49-F238E27FC236}">
                <a16:creationId xmlns:a16="http://schemas.microsoft.com/office/drawing/2014/main" id="{E5A15C5A-236C-2A52-673E-E8C00A954E2C}"/>
              </a:ext>
            </a:extLst>
          </p:cNvPr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583966" y="2753965"/>
            <a:ext cx="5706042" cy="2727117"/>
          </a:xfrm>
          <a:prstGeom prst="rect">
            <a:avLst/>
          </a:prstGeom>
        </p:spPr>
      </p:pic>
      <p:pic>
        <p:nvPicPr>
          <p:cNvPr id="16" name="object 8">
            <a:extLst>
              <a:ext uri="{FF2B5EF4-FFF2-40B4-BE49-F238E27FC236}">
                <a16:creationId xmlns:a16="http://schemas.microsoft.com/office/drawing/2014/main" id="{52238CC2-93BA-D3EE-0C6D-97BA3CE426FB}"/>
              </a:ext>
            </a:extLst>
          </p:cNvPr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583966" y="6972300"/>
            <a:ext cx="5706042" cy="2727117"/>
          </a:xfrm>
          <a:prstGeom prst="rect">
            <a:avLst/>
          </a:prstGeom>
        </p:spPr>
      </p:pic>
      <p:sp>
        <p:nvSpPr>
          <p:cNvPr id="19" name="TextBox 9">
            <a:extLst>
              <a:ext uri="{FF2B5EF4-FFF2-40B4-BE49-F238E27FC236}">
                <a16:creationId xmlns:a16="http://schemas.microsoft.com/office/drawing/2014/main" id="{C1C4148F-31B0-4343-1143-A54A81CBFCC7}"/>
              </a:ext>
            </a:extLst>
          </p:cNvPr>
          <p:cNvSpPr txBox="1"/>
          <p:nvPr/>
        </p:nvSpPr>
        <p:spPr>
          <a:xfrm>
            <a:off x="1982796" y="1257103"/>
            <a:ext cx="14586701" cy="9302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sz="6000" b="1" spc="-209" dirty="0">
                <a:solidFill>
                  <a:srgbClr val="4A60DD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SIA: </a:t>
            </a:r>
            <a:r>
              <a:rPr lang="en-US" sz="6000" b="1" spc="-209" dirty="0" err="1">
                <a:solidFill>
                  <a:srgbClr val="4A60DD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Sst</a:t>
            </a:r>
            <a:r>
              <a:rPr lang="en-US" sz="6000" b="1" spc="-209" dirty="0">
                <a:solidFill>
                  <a:srgbClr val="4A60DD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 file Isolated Allocation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D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330298"/>
            <a:ext cx="650534" cy="650534"/>
            <a:chOff x="0" y="0"/>
            <a:chExt cx="867378" cy="867378"/>
          </a:xfrm>
        </p:grpSpPr>
        <p:sp>
          <p:nvSpPr>
            <p:cNvPr id="3" name="AutoShape 3"/>
            <p:cNvSpPr/>
            <p:nvPr/>
          </p:nvSpPr>
          <p:spPr>
            <a:xfrm>
              <a:off x="0" y="433689"/>
              <a:ext cx="867378" cy="0"/>
            </a:xfrm>
            <a:prstGeom prst="line">
              <a:avLst/>
            </a:prstGeom>
            <a:ln w="139700" cap="flat">
              <a:solidFill>
                <a:srgbClr val="4A60DD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AutoShape 4"/>
            <p:cNvSpPr/>
            <p:nvPr/>
          </p:nvSpPr>
          <p:spPr>
            <a:xfrm flipV="1">
              <a:off x="433689" y="0"/>
              <a:ext cx="0" cy="867378"/>
            </a:xfrm>
            <a:prstGeom prst="line">
              <a:avLst/>
            </a:prstGeom>
            <a:ln w="139700" cap="flat">
              <a:solidFill>
                <a:srgbClr val="4A60DD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" name="AutoShape 5"/>
            <p:cNvSpPr/>
            <p:nvPr/>
          </p:nvSpPr>
          <p:spPr>
            <a:xfrm flipV="1">
              <a:off x="127025" y="127025"/>
              <a:ext cx="613329" cy="613329"/>
            </a:xfrm>
            <a:prstGeom prst="line">
              <a:avLst/>
            </a:prstGeom>
            <a:ln w="139700" cap="flat">
              <a:solidFill>
                <a:srgbClr val="4A60DD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" name="AutoShape 6"/>
            <p:cNvSpPr/>
            <p:nvPr/>
          </p:nvSpPr>
          <p:spPr>
            <a:xfrm flipH="1" flipV="1">
              <a:off x="127025" y="127025"/>
              <a:ext cx="613329" cy="613329"/>
            </a:xfrm>
            <a:prstGeom prst="line">
              <a:avLst/>
            </a:prstGeom>
            <a:ln w="139700" cap="flat">
              <a:solidFill>
                <a:srgbClr val="4A60DD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982796" y="1257103"/>
            <a:ext cx="14586701" cy="9302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sz="6000" b="1" spc="-209" dirty="0">
                <a:solidFill>
                  <a:srgbClr val="4A60DD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SLSIA: Strict Lifetime-aware SIA</a:t>
            </a:r>
          </a:p>
        </p:txBody>
      </p:sp>
      <p:pic>
        <p:nvPicPr>
          <p:cNvPr id="15" name="object 8">
            <a:extLst>
              <a:ext uri="{FF2B5EF4-FFF2-40B4-BE49-F238E27FC236}">
                <a16:creationId xmlns:a16="http://schemas.microsoft.com/office/drawing/2014/main" id="{FE23C07D-E2F0-75AC-705D-06836C2510B6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83966" y="6973200"/>
            <a:ext cx="5706000" cy="2728800"/>
          </a:xfrm>
          <a:prstGeom prst="rect">
            <a:avLst/>
          </a:prstGeom>
        </p:spPr>
      </p:pic>
      <p:pic>
        <p:nvPicPr>
          <p:cNvPr id="16" name="object 6">
            <a:extLst>
              <a:ext uri="{FF2B5EF4-FFF2-40B4-BE49-F238E27FC236}">
                <a16:creationId xmlns:a16="http://schemas.microsoft.com/office/drawing/2014/main" id="{C66C0BA3-FE00-EDB0-14B2-11941D0B0804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84000" y="2754000"/>
            <a:ext cx="5706042" cy="2728800"/>
          </a:xfrm>
          <a:prstGeom prst="rect">
            <a:avLst/>
          </a:prstGeom>
        </p:spPr>
      </p:pic>
      <p:sp>
        <p:nvSpPr>
          <p:cNvPr id="17" name="Freeform 12">
            <a:extLst>
              <a:ext uri="{FF2B5EF4-FFF2-40B4-BE49-F238E27FC236}">
                <a16:creationId xmlns:a16="http://schemas.microsoft.com/office/drawing/2014/main" id="{639DA016-AEC9-8501-E6D7-87D55FA4321C}"/>
              </a:ext>
            </a:extLst>
          </p:cNvPr>
          <p:cNvSpPr/>
          <p:nvPr/>
        </p:nvSpPr>
        <p:spPr>
          <a:xfrm rot="5400000">
            <a:off x="4444777" y="6269477"/>
            <a:ext cx="409578" cy="612332"/>
          </a:xfrm>
          <a:custGeom>
            <a:avLst/>
            <a:gdLst/>
            <a:ahLst/>
            <a:cxnLst/>
            <a:rect l="l" t="t" r="r" b="b"/>
            <a:pathLst>
              <a:path w="409578" h="612332">
                <a:moveTo>
                  <a:pt x="0" y="0"/>
                </a:moveTo>
                <a:lnTo>
                  <a:pt x="409578" y="0"/>
                </a:lnTo>
                <a:lnTo>
                  <a:pt x="409578" y="612332"/>
                </a:lnTo>
                <a:lnTo>
                  <a:pt x="0" y="61233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8" name="Freeform 13">
            <a:extLst>
              <a:ext uri="{FF2B5EF4-FFF2-40B4-BE49-F238E27FC236}">
                <a16:creationId xmlns:a16="http://schemas.microsoft.com/office/drawing/2014/main" id="{05581BFE-20D9-49AD-1CF1-FD74ED6FFE90}"/>
              </a:ext>
            </a:extLst>
          </p:cNvPr>
          <p:cNvSpPr/>
          <p:nvPr/>
        </p:nvSpPr>
        <p:spPr>
          <a:xfrm rot="5400000">
            <a:off x="4421917" y="5937894"/>
            <a:ext cx="409578" cy="612332"/>
          </a:xfrm>
          <a:custGeom>
            <a:avLst/>
            <a:gdLst/>
            <a:ahLst/>
            <a:cxnLst/>
            <a:rect l="l" t="t" r="r" b="b"/>
            <a:pathLst>
              <a:path w="409578" h="612332">
                <a:moveTo>
                  <a:pt x="0" y="0"/>
                </a:moveTo>
                <a:lnTo>
                  <a:pt x="409578" y="0"/>
                </a:lnTo>
                <a:lnTo>
                  <a:pt x="409578" y="612333"/>
                </a:lnTo>
                <a:lnTo>
                  <a:pt x="0" y="61233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9" name="Freeform 14">
            <a:extLst>
              <a:ext uri="{FF2B5EF4-FFF2-40B4-BE49-F238E27FC236}">
                <a16:creationId xmlns:a16="http://schemas.microsoft.com/office/drawing/2014/main" id="{330E1FFC-9A14-A0BA-E92A-A26C02067F9F}"/>
              </a:ext>
            </a:extLst>
          </p:cNvPr>
          <p:cNvSpPr/>
          <p:nvPr/>
        </p:nvSpPr>
        <p:spPr>
          <a:xfrm rot="5400000">
            <a:off x="4444777" y="5606311"/>
            <a:ext cx="409578" cy="612332"/>
          </a:xfrm>
          <a:custGeom>
            <a:avLst/>
            <a:gdLst/>
            <a:ahLst/>
            <a:cxnLst/>
            <a:rect l="l" t="t" r="r" b="b"/>
            <a:pathLst>
              <a:path w="409578" h="612332">
                <a:moveTo>
                  <a:pt x="0" y="0"/>
                </a:moveTo>
                <a:lnTo>
                  <a:pt x="409578" y="0"/>
                </a:lnTo>
                <a:lnTo>
                  <a:pt x="409578" y="612332"/>
                </a:lnTo>
                <a:lnTo>
                  <a:pt x="0" y="61233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20" name="TextBox 10">
            <a:extLst>
              <a:ext uri="{FF2B5EF4-FFF2-40B4-BE49-F238E27FC236}">
                <a16:creationId xmlns:a16="http://schemas.microsoft.com/office/drawing/2014/main" id="{A1FF3B19-C2CF-313D-E1DA-1A0E3FD06371}"/>
              </a:ext>
            </a:extLst>
          </p:cNvPr>
          <p:cNvSpPr txBox="1"/>
          <p:nvPr/>
        </p:nvSpPr>
        <p:spPr>
          <a:xfrm>
            <a:off x="8545772" y="3738931"/>
            <a:ext cx="8069615" cy="644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99"/>
              </a:lnSpc>
            </a:pPr>
            <a:r>
              <a:rPr lang="en-US" sz="3999" b="1" spc="-39" dirty="0">
                <a:solidFill>
                  <a:srgbClr val="4A60DD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SLSIA</a:t>
            </a:r>
          </a:p>
        </p:txBody>
      </p:sp>
      <p:sp>
        <p:nvSpPr>
          <p:cNvPr id="21" name="TextBox 11">
            <a:extLst>
              <a:ext uri="{FF2B5EF4-FFF2-40B4-BE49-F238E27FC236}">
                <a16:creationId xmlns:a16="http://schemas.microsoft.com/office/drawing/2014/main" id="{B0A66483-3FEE-5183-64B1-71D0D9E5BE40}"/>
              </a:ext>
            </a:extLst>
          </p:cNvPr>
          <p:cNvSpPr txBox="1"/>
          <p:nvPr/>
        </p:nvSpPr>
        <p:spPr>
          <a:xfrm>
            <a:off x="8339839" y="4547825"/>
            <a:ext cx="8919461" cy="23006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8" lvl="1" indent="-269874" algn="l">
              <a:lnSpc>
                <a:spcPts val="4574"/>
              </a:lnSpc>
              <a:buFont typeface="Arial"/>
              <a:buChar char="•"/>
            </a:pPr>
            <a:r>
              <a:rPr lang="en-US" sz="2499" dirty="0">
                <a:solidFill>
                  <a:srgbClr val="424242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SIA</a:t>
            </a:r>
            <a:r>
              <a:rPr lang="ko-KR" altLang="en-US" sz="2499" dirty="0">
                <a:solidFill>
                  <a:srgbClr val="424242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는 서로 다른 </a:t>
            </a:r>
            <a:r>
              <a:rPr lang="en-US" altLang="ko-KR" sz="2499" dirty="0">
                <a:solidFill>
                  <a:srgbClr val="424242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lifetime hint</a:t>
            </a:r>
            <a:r>
              <a:rPr lang="ko-KR" altLang="en-US" sz="2499" dirty="0">
                <a:solidFill>
                  <a:srgbClr val="424242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를 가진 </a:t>
            </a:r>
            <a:r>
              <a:rPr lang="en-US" altLang="ko-KR" sz="2499" dirty="0">
                <a:solidFill>
                  <a:srgbClr val="424242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blob file</a:t>
            </a:r>
            <a:r>
              <a:rPr lang="ko-KR" altLang="en-US" sz="2499" dirty="0">
                <a:solidFill>
                  <a:srgbClr val="424242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들이 같은 </a:t>
            </a:r>
            <a:r>
              <a:rPr lang="en-US" altLang="ko-KR" sz="2499" dirty="0">
                <a:solidFill>
                  <a:srgbClr val="424242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zone</a:t>
            </a:r>
            <a:r>
              <a:rPr lang="ko-KR" altLang="en-US" sz="2499" dirty="0">
                <a:solidFill>
                  <a:srgbClr val="424242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에 섞여 </a:t>
            </a:r>
            <a:r>
              <a:rPr lang="en-US" altLang="ko-KR" sz="2499" dirty="0">
                <a:solidFill>
                  <a:srgbClr val="424242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reclaim</a:t>
            </a:r>
            <a:r>
              <a:rPr lang="ko-KR" altLang="en-US" sz="2499" dirty="0">
                <a:solidFill>
                  <a:srgbClr val="424242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의 효율이 떨어지는 한계 존재</a:t>
            </a:r>
            <a:endParaRPr lang="en-US" sz="2499" dirty="0">
              <a:solidFill>
                <a:srgbClr val="424242"/>
              </a:solidFill>
              <a:latin typeface="Tlab 돋움 레귤러"/>
              <a:ea typeface="Tlab 돋움 레귤러"/>
              <a:cs typeface="Tlab 돋움 레귤러"/>
              <a:sym typeface="Tlab 돋움 레귤러"/>
            </a:endParaRPr>
          </a:p>
          <a:p>
            <a:pPr marL="539748" lvl="1" indent="-269874" algn="l">
              <a:lnSpc>
                <a:spcPts val="4574"/>
              </a:lnSpc>
              <a:buFont typeface="Arial"/>
              <a:buChar char="•"/>
            </a:pPr>
            <a:r>
              <a:rPr lang="en-US" sz="2499" dirty="0">
                <a:solidFill>
                  <a:srgbClr val="424242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SLSIA</a:t>
            </a:r>
            <a:r>
              <a:rPr lang="ko-KR" altLang="en-US" sz="2499" dirty="0">
                <a:solidFill>
                  <a:srgbClr val="424242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는 </a:t>
            </a:r>
            <a:r>
              <a:rPr lang="en-US" sz="2499" dirty="0">
                <a:solidFill>
                  <a:srgbClr val="424242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SIA</a:t>
            </a:r>
            <a:r>
              <a:rPr lang="ko-KR" altLang="en-US" sz="2499" dirty="0">
                <a:solidFill>
                  <a:srgbClr val="424242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를 함과 동시에</a:t>
            </a:r>
            <a:r>
              <a:rPr lang="en-US" altLang="ko-KR" sz="2499" dirty="0">
                <a:solidFill>
                  <a:srgbClr val="424242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, Blob file</a:t>
            </a:r>
            <a:r>
              <a:rPr lang="ko-KR" altLang="en-US" sz="2499" dirty="0">
                <a:solidFill>
                  <a:srgbClr val="424242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을 </a:t>
            </a:r>
            <a:r>
              <a:rPr lang="en-US" altLang="ko-KR" sz="2499" dirty="0">
                <a:solidFill>
                  <a:srgbClr val="424242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lifetime</a:t>
            </a:r>
            <a:r>
              <a:rPr lang="ko-KR" altLang="en-US" sz="2499" dirty="0">
                <a:solidFill>
                  <a:srgbClr val="424242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별로 분리 배치하여 더 효율적인 </a:t>
            </a:r>
            <a:r>
              <a:rPr lang="en-US" altLang="ko-KR" sz="2499" dirty="0">
                <a:solidFill>
                  <a:srgbClr val="424242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zone reclaim</a:t>
            </a:r>
            <a:r>
              <a:rPr lang="ko-KR" altLang="en-US" sz="2499" dirty="0">
                <a:solidFill>
                  <a:srgbClr val="424242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의 효율을 높임</a:t>
            </a:r>
            <a:endParaRPr lang="en-US" sz="2499" dirty="0">
              <a:solidFill>
                <a:srgbClr val="424242"/>
              </a:solidFill>
              <a:latin typeface="Tlab 돋움 레귤러"/>
              <a:ea typeface="Tlab 돋움 레귤러"/>
              <a:cs typeface="Tlab 돋움 레귤러"/>
              <a:sym typeface="Tlab 돋움 레귤러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D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330298"/>
            <a:ext cx="650534" cy="650534"/>
            <a:chOff x="0" y="0"/>
            <a:chExt cx="867378" cy="867378"/>
          </a:xfrm>
        </p:grpSpPr>
        <p:sp>
          <p:nvSpPr>
            <p:cNvPr id="3" name="AutoShape 3"/>
            <p:cNvSpPr/>
            <p:nvPr/>
          </p:nvSpPr>
          <p:spPr>
            <a:xfrm>
              <a:off x="0" y="433689"/>
              <a:ext cx="867378" cy="0"/>
            </a:xfrm>
            <a:prstGeom prst="line">
              <a:avLst/>
            </a:prstGeom>
            <a:ln w="139700" cap="flat">
              <a:solidFill>
                <a:srgbClr val="4A60DD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AutoShape 4"/>
            <p:cNvSpPr/>
            <p:nvPr/>
          </p:nvSpPr>
          <p:spPr>
            <a:xfrm flipV="1">
              <a:off x="433689" y="0"/>
              <a:ext cx="0" cy="867378"/>
            </a:xfrm>
            <a:prstGeom prst="line">
              <a:avLst/>
            </a:prstGeom>
            <a:ln w="139700" cap="flat">
              <a:solidFill>
                <a:srgbClr val="4A60DD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" name="AutoShape 5"/>
            <p:cNvSpPr/>
            <p:nvPr/>
          </p:nvSpPr>
          <p:spPr>
            <a:xfrm flipV="1">
              <a:off x="127025" y="127025"/>
              <a:ext cx="613329" cy="613329"/>
            </a:xfrm>
            <a:prstGeom prst="line">
              <a:avLst/>
            </a:prstGeom>
            <a:ln w="139700" cap="flat">
              <a:solidFill>
                <a:srgbClr val="4A60DD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" name="AutoShape 6"/>
            <p:cNvSpPr/>
            <p:nvPr/>
          </p:nvSpPr>
          <p:spPr>
            <a:xfrm flipH="1" flipV="1">
              <a:off x="127025" y="127025"/>
              <a:ext cx="613329" cy="613329"/>
            </a:xfrm>
            <a:prstGeom prst="line">
              <a:avLst/>
            </a:prstGeom>
            <a:ln w="139700" cap="flat">
              <a:solidFill>
                <a:srgbClr val="4A60DD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925061" y="1076128"/>
            <a:ext cx="15334239" cy="1108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819"/>
              </a:lnSpc>
            </a:pPr>
            <a:r>
              <a:rPr lang="ko-KR" altLang="en-US" sz="6999" b="1" spc="-209" dirty="0">
                <a:solidFill>
                  <a:srgbClr val="4A60DD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연구 결과</a:t>
            </a:r>
            <a:endParaRPr lang="en-US" sz="6999" b="1" spc="-209" dirty="0">
              <a:solidFill>
                <a:srgbClr val="4A60DD"/>
              </a:solidFill>
              <a:latin typeface="Tlab 돋움 레귤러 Bold"/>
              <a:ea typeface="Tlab 돋움 레귤러 Bold"/>
              <a:cs typeface="Tlab 돋움 레귤러 Bold"/>
              <a:sym typeface="Tlab 돋움 레귤러 Bold"/>
            </a:endParaRPr>
          </a:p>
        </p:txBody>
      </p:sp>
      <p:sp>
        <p:nvSpPr>
          <p:cNvPr id="61" name="TextBox 10">
            <a:extLst>
              <a:ext uri="{FF2B5EF4-FFF2-40B4-BE49-F238E27FC236}">
                <a16:creationId xmlns:a16="http://schemas.microsoft.com/office/drawing/2014/main" id="{484F910E-F127-E692-364E-A1984B4873ED}"/>
              </a:ext>
            </a:extLst>
          </p:cNvPr>
          <p:cNvSpPr txBox="1"/>
          <p:nvPr/>
        </p:nvSpPr>
        <p:spPr>
          <a:xfrm>
            <a:off x="1353967" y="7782904"/>
            <a:ext cx="8069615" cy="644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99"/>
              </a:lnSpc>
            </a:pPr>
            <a:r>
              <a:rPr lang="ko-KR" altLang="en-US" sz="3999" b="1" spc="-39" dirty="0">
                <a:solidFill>
                  <a:srgbClr val="4A60DD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결과 분석</a:t>
            </a:r>
            <a:endParaRPr lang="en-US" sz="3999" b="1" spc="-39" dirty="0">
              <a:solidFill>
                <a:srgbClr val="4A60DD"/>
              </a:solidFill>
              <a:latin typeface="Tlab 돋움 레귤러 Bold"/>
              <a:ea typeface="Tlab 돋움 레귤러 Bold"/>
              <a:cs typeface="Tlab 돋움 레귤러 Bold"/>
              <a:sym typeface="Tlab 돋움 레귤러 Bold"/>
            </a:endParaRPr>
          </a:p>
        </p:txBody>
      </p:sp>
      <p:sp>
        <p:nvSpPr>
          <p:cNvPr id="62" name="TextBox 11">
            <a:extLst>
              <a:ext uri="{FF2B5EF4-FFF2-40B4-BE49-F238E27FC236}">
                <a16:creationId xmlns:a16="http://schemas.microsoft.com/office/drawing/2014/main" id="{8EFFF2DC-73B1-5A3A-A4E3-BA2B1E17AA8C}"/>
              </a:ext>
            </a:extLst>
          </p:cNvPr>
          <p:cNvSpPr txBox="1"/>
          <p:nvPr/>
        </p:nvSpPr>
        <p:spPr>
          <a:xfrm>
            <a:off x="1028700" y="8631435"/>
            <a:ext cx="16230600" cy="112088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39748" lvl="1" indent="-269874" algn="l">
              <a:lnSpc>
                <a:spcPts val="4574"/>
              </a:lnSpc>
              <a:buFont typeface="Arial"/>
              <a:buChar char="•"/>
            </a:pPr>
            <a:r>
              <a:rPr lang="en-US" sz="2499" dirty="0">
                <a:solidFill>
                  <a:srgbClr val="424242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Compaction failure </a:t>
            </a:r>
            <a:r>
              <a:rPr lang="ko-KR" altLang="en-US" sz="2499" dirty="0">
                <a:solidFill>
                  <a:srgbClr val="424242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사라짐</a:t>
            </a:r>
          </a:p>
          <a:p>
            <a:pPr marL="539748" lvl="1" indent="-269874" algn="l">
              <a:lnSpc>
                <a:spcPts val="4574"/>
              </a:lnSpc>
              <a:buFont typeface="Arial"/>
              <a:buChar char="•"/>
            </a:pPr>
            <a:r>
              <a:rPr lang="en-US" sz="2499" dirty="0">
                <a:solidFill>
                  <a:srgbClr val="424242"/>
                </a:solidFill>
                <a:latin typeface="Tlab 돋움 레귤러"/>
                <a:ea typeface="Tlab 돋움 레귤러"/>
                <a:cs typeface="Tlab 돋움 레귤러"/>
                <a:sym typeface="Tlab 돋움 레귤러"/>
              </a:rPr>
              <a:t>space utilization: 72% → 96%</a:t>
            </a:r>
          </a:p>
        </p:txBody>
      </p:sp>
      <p:pic>
        <p:nvPicPr>
          <p:cNvPr id="257" name="그림 256" descr="라인, 도표, 텍스트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FD1946A-7C28-49E6-1A9B-C9F7483AEB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8214" y="2411704"/>
            <a:ext cx="15950740" cy="515098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D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541389" y="4092832"/>
            <a:ext cx="9138809" cy="12630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080"/>
              </a:lnSpc>
            </a:pPr>
            <a:r>
              <a:rPr lang="en-US" sz="8000" b="1" spc="-240">
                <a:solidFill>
                  <a:srgbClr val="4A60DD"/>
                </a:solidFill>
                <a:latin typeface="Tlab 돋움 레귤러 Bold"/>
                <a:ea typeface="Tlab 돋움 레귤러 Bold"/>
                <a:cs typeface="Tlab 돋움 레귤러 Bold"/>
                <a:sym typeface="Tlab 돋움 레귤러 Bold"/>
              </a:rPr>
              <a:t>감사합니다.</a:t>
            </a:r>
          </a:p>
        </p:txBody>
      </p:sp>
      <p:sp>
        <p:nvSpPr>
          <p:cNvPr id="3" name="TextBox 3"/>
          <p:cNvSpPr txBox="1"/>
          <p:nvPr/>
        </p:nvSpPr>
        <p:spPr>
          <a:xfrm rot="1877031">
            <a:off x="14763912" y="1412784"/>
            <a:ext cx="2534826" cy="10805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55"/>
              </a:lnSpc>
            </a:pPr>
            <a:r>
              <a:rPr lang="en-US" sz="3455" b="1" spc="307">
                <a:solidFill>
                  <a:srgbClr val="4A60DD"/>
                </a:solidFill>
                <a:latin typeface="Cabin Bold"/>
                <a:ea typeface="Cabin Bold"/>
                <a:cs typeface="Cabin Bold"/>
                <a:sym typeface="Cabin Bold"/>
              </a:rPr>
              <a:t>THANK YOU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5336663" y="2179104"/>
            <a:ext cx="711974" cy="711974"/>
            <a:chOff x="0" y="0"/>
            <a:chExt cx="949298" cy="949298"/>
          </a:xfrm>
        </p:grpSpPr>
        <p:sp>
          <p:nvSpPr>
            <p:cNvPr id="5" name="AutoShape 5"/>
            <p:cNvSpPr/>
            <p:nvPr/>
          </p:nvSpPr>
          <p:spPr>
            <a:xfrm>
              <a:off x="0" y="474649"/>
              <a:ext cx="949298" cy="0"/>
            </a:xfrm>
            <a:prstGeom prst="line">
              <a:avLst/>
            </a:prstGeom>
            <a:ln w="152400" cap="flat">
              <a:solidFill>
                <a:srgbClr val="4A60DD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" name="AutoShape 6"/>
            <p:cNvSpPr/>
            <p:nvPr/>
          </p:nvSpPr>
          <p:spPr>
            <a:xfrm flipV="1">
              <a:off x="474649" y="0"/>
              <a:ext cx="0" cy="949298"/>
            </a:xfrm>
            <a:prstGeom prst="line">
              <a:avLst/>
            </a:prstGeom>
            <a:ln w="152400" cap="flat">
              <a:solidFill>
                <a:srgbClr val="4A60DD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" name="AutoShape 7"/>
            <p:cNvSpPr/>
            <p:nvPr/>
          </p:nvSpPr>
          <p:spPr>
            <a:xfrm flipV="1">
              <a:off x="139021" y="139021"/>
              <a:ext cx="671255" cy="671255"/>
            </a:xfrm>
            <a:prstGeom prst="line">
              <a:avLst/>
            </a:prstGeom>
            <a:ln w="152400" cap="flat">
              <a:solidFill>
                <a:srgbClr val="4A60DD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" name="AutoShape 8"/>
            <p:cNvSpPr/>
            <p:nvPr/>
          </p:nvSpPr>
          <p:spPr>
            <a:xfrm flipH="1" flipV="1">
              <a:off x="139021" y="139021"/>
              <a:ext cx="671255" cy="671255"/>
            </a:xfrm>
            <a:prstGeom prst="line">
              <a:avLst/>
            </a:prstGeom>
            <a:ln w="152400" cap="flat">
              <a:solidFill>
                <a:srgbClr val="4A60DD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ko-KR" altLang="en-US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99</TotalTime>
  <Words>695</Words>
  <Application>Microsoft Office PowerPoint</Application>
  <PresentationFormat>사용자 지정</PresentationFormat>
  <Paragraphs>90</Paragraphs>
  <Slides>15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22" baseType="lpstr">
      <vt:lpstr>Cabin</vt:lpstr>
      <vt:lpstr>Tlab 돋움 레귤러 Bold</vt:lpstr>
      <vt:lpstr>Calibri</vt:lpstr>
      <vt:lpstr>Arial</vt:lpstr>
      <vt:lpstr>Tlab 돋움 레귤러</vt:lpstr>
      <vt:lpstr>Cabin Bold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회색 남색 깔끔한 프로젝트 소개 프레젠테이션</dc:title>
  <cp:lastModifiedBy>나도윤</cp:lastModifiedBy>
  <cp:revision>42</cp:revision>
  <dcterms:created xsi:type="dcterms:W3CDTF">2006-08-16T00:00:00Z</dcterms:created>
  <dcterms:modified xsi:type="dcterms:W3CDTF">2025-09-25T08:03:37Z</dcterms:modified>
  <dc:identifier>DAGz9VjfM_Q</dc:identifier>
</cp:coreProperties>
</file>